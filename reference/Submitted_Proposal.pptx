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51895" autoAdjust="0"/>
  </p:normalViewPr>
  <p:slideViewPr>
    <p:cSldViewPr snapToGrid="0">
      <p:cViewPr varScale="1">
        <p:scale>
          <a:sx n="42" d="100"/>
          <a:sy n="42" d="100"/>
        </p:scale>
        <p:origin x="222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presProps" Target="pres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notesMaster" Target="notesMasters/notesMaster1.xml" /><Relationship Id="rId5" Type="http://schemas.openxmlformats.org/officeDocument/2006/relationships/slide" Target="slides/slide4.xml" /><Relationship Id="rId15" Type="http://schemas.openxmlformats.org/officeDocument/2006/relationships/tableStyles" Target="tableStyle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542F63C5-1480-4C9E-A0B4-5A2152ABB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28251572-1FE5-45A6-A0EB-122590C9B2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8DD7F44C-B7A8-4BF4-944E-AA4C6DAD6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7A8BBFC-F380-41B9-8909-EF76B5A24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C2464EC5-DFE2-4312-B681-924FFC8744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A00F501-9750-495B-BE2A-A8F27CBE6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14532F57-8572-42CA-93FB-5A0262741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C3FBBE60-CF54-45C1-A49C-98479A16CB8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F1C854F-8BBF-41F5-A022-1A2F7A7B3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768E9DDA-4545-4764-A27E-E9A76CAB85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 /><Relationship Id="rId7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5" Type="http://schemas.openxmlformats.org/officeDocument/2006/relationships/slideLayout" Target="../slideLayouts/slideLayout5.xml" /><Relationship Id="rId4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6.xml" /><Relationship Id="rId6" Type="http://schemas.openxmlformats.org/officeDocument/2006/relationships/image" Target="../media/image4.png" /><Relationship Id="rId5" Type="http://schemas.openxmlformats.org/officeDocument/2006/relationships/image" Target="../media/image3.png" /><Relationship Id="rId4" Type="http://schemas.openxmlformats.org/officeDocument/2006/relationships/image" Target="../media/image2.png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6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6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6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6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6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6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6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6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8CDBD"/>
            </a:gs>
            <a:gs pos="48000">
              <a:srgbClr val="F8F2E9"/>
            </a:gs>
            <a:gs pos="100000">
              <a:srgbClr val="E9D9AD"/>
            </a:gs>
          </a:gsLst>
          <a:lin ang="1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AgentOps">
            <a:extLst>
              <a:ext uri="{FF2B5EF4-FFF2-40B4-BE49-F238E27FC236}">
                <a16:creationId xmlns:a16="http://schemas.microsoft.com/office/drawing/2014/main" id="{00E32143-8A26-4274-9F9E-186CBF3A5936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4095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 i="0">
                <a:solidFill>
                  <a:srgbClr val="352B26"/>
                </a:solidFill>
                <a:latin typeface="Arial Black"/>
                <a:ea typeface="Arial Black"/>
                <a:cs typeface="Arial Black"/>
              </a:defRPr>
            </a:defPPr>
          </a:lstStyle>
          <a:p>
            <a:pPr algn="l">
              <a:buNone/>
              <a:defRPr sz="3300" b="1" i="0">
                <a:solidFill>
                  <a:srgbClr val="352B26"/>
                </a:solidFill>
                <a:latin typeface="Arial Black"/>
                <a:ea typeface="Arial Black"/>
                <a:cs typeface="Arial Black"/>
              </a:defRPr>
            </a:pPr>
            <a:r>
              <a:rPr sz="3300" b="1" i="0">
                <a:solidFill>
                  <a:srgbClr val="352B26"/>
                </a:solidFill>
                <a:latin typeface="Arial Black"/>
                <a:ea typeface="Arial Black"/>
                <a:cs typeface="Arial Black"/>
              </a:rPr>
              <a:t>AgentOps</a:t>
            </a:r>
          </a:p>
        </p:txBody>
      </p:sp>
      <p:sp>
        <p:nvSpPr>
          <p:cNvPr id="2" name="THE AGENTIC EDITION">
            <a:extLst>
              <a:ext uri="{FF2B5EF4-FFF2-40B4-BE49-F238E27FC236}">
                <a16:creationId xmlns:a16="http://schemas.microsoft.com/office/drawing/2014/main" id="{954FC5FA-CDF3-4912-8EBC-778F4D0D6E7C}"/>
              </a:ext>
            </a:extLst>
          </p:cNvPr>
          <p:cNvSpPr>
            <a:spLocks noGrp="1"/>
          </p:cNvSpPr>
          <p:nvPr/>
        </p:nvSpPr>
        <p:spPr>
          <a:xfrm>
            <a:off x="628650" y="1047750"/>
            <a:ext cx="4857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350" b="1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THE AGENTIC EDITION</a:t>
            </a:r>
          </a:p>
        </p:txBody>
      </p:sp>
      <p:sp>
        <p:nvSpPr>
          <p:cNvPr id="3" name="IDEA SUBMISSION">
            <a:extLst>
              <a:ext uri="{FF2B5EF4-FFF2-40B4-BE49-F238E27FC236}">
                <a16:creationId xmlns:a16="http://schemas.microsoft.com/office/drawing/2014/main" id="{08C5D2D4-FFF6-47C1-949B-D85A5717D114}"/>
              </a:ext>
            </a:extLst>
          </p:cNvPr>
          <p:cNvSpPr>
            <a:spLocks noGrp="1"/>
          </p:cNvSpPr>
          <p:nvPr/>
        </p:nvSpPr>
        <p:spPr>
          <a:xfrm>
            <a:off x="628650" y="1828800"/>
            <a:ext cx="523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350" b="1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IDEA SUBMISSION</a:t>
            </a:r>
          </a:p>
        </p:txBody>
      </p:sp>
      <p:sp>
        <p:nvSpPr>
          <p:cNvPr id="4" name="[Your idea title]">
            <a:extLst>
              <a:ext uri="{FF2B5EF4-FFF2-40B4-BE49-F238E27FC236}">
                <a16:creationId xmlns:a16="http://schemas.microsoft.com/office/drawing/2014/main" id="{71EE4B4E-C82D-47F6-9E85-01C5B4C3CD76}"/>
              </a:ext>
            </a:extLst>
          </p:cNvPr>
          <p:cNvSpPr>
            <a:spLocks noGrp="1"/>
          </p:cNvSpPr>
          <p:nvPr/>
        </p:nvSpPr>
        <p:spPr>
          <a:xfrm>
            <a:off x="609600" y="2266950"/>
            <a:ext cx="60007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5100" b="1" i="0">
                <a:solidFill>
                  <a:srgbClr val="352B26"/>
                </a:solidFill>
                <a:latin typeface="Arial Black"/>
                <a:ea typeface="Arial Black"/>
                <a:cs typeface="Arial Black"/>
              </a:defRPr>
            </a:defPPr>
          </a:lstStyle>
          <a:p>
            <a:pPr algn="l">
              <a:buNone/>
              <a:defRPr sz="5100" b="1" i="0">
                <a:solidFill>
                  <a:srgbClr val="352B26"/>
                </a:solidFill>
                <a:latin typeface="Arial Black"/>
                <a:ea typeface="Arial Black"/>
                <a:cs typeface="Arial Black"/>
              </a:defRPr>
            </a:pPr>
            <a:r>
              <a:rPr sz="5100" b="1" i="0">
                <a:solidFill>
                  <a:srgbClr val="352B26"/>
                </a:solidFill>
                <a:latin typeface="Arial Black"/>
                <a:ea typeface="Arial Black"/>
                <a:cs typeface="Arial Black"/>
              </a:rPr>
              <a:t>ReRoute</a:t>
            </a:r>
          </a:p>
        </p:txBody>
      </p:sp>
      <p:sp>
        <p:nvSpPr>
          <p:cNvPr id="5" name="[A one-sentence description of your idea]">
            <a:extLst>
              <a:ext uri="{FF2B5EF4-FFF2-40B4-BE49-F238E27FC236}">
                <a16:creationId xmlns:a16="http://schemas.microsoft.com/office/drawing/2014/main" id="{D8D6B761-7CF0-4AB6-B84D-D6B02BF2AEE3}"/>
              </a:ext>
            </a:extLst>
          </p:cNvPr>
          <p:cNvSpPr>
            <a:spLocks noGrp="1"/>
          </p:cNvSpPr>
          <p:nvPr/>
        </p:nvSpPr>
        <p:spPr>
          <a:xfrm>
            <a:off x="647700" y="4124325"/>
            <a:ext cx="52197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800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Checks a replacement plan, gets approval</a:t>
            </a:r>
          </a:p>
          <a:p>
            <a:pPr algn="l">
              <a:buNone/>
              <a:defRPr sz="1800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and verifies the booking.</a:t>
            </a:r>
          </a:p>
        </p:txBody>
      </p:sp>
      <p:sp>
        <p:nvSpPr>
          <p:cNvPr id="6" name="[Team name]  ·  [Team code]">
            <a:extLst>
              <a:ext uri="{FF2B5EF4-FFF2-40B4-BE49-F238E27FC236}">
                <a16:creationId xmlns:a16="http://schemas.microsoft.com/office/drawing/2014/main" id="{6FE7C135-22D8-468E-A99B-4C270F7C1985}"/>
              </a:ext>
            </a:extLst>
          </p:cNvPr>
          <p:cNvSpPr>
            <a:spLocks noGrp="1"/>
          </p:cNvSpPr>
          <p:nvPr/>
        </p:nvSpPr>
        <p:spPr>
          <a:xfrm>
            <a:off x="647700" y="5095875"/>
            <a:ext cx="5486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 i="0">
                <a:solidFill>
                  <a:srgbClr val="352B2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1725" b="1" i="0">
                <a:solidFill>
                  <a:srgbClr val="352B26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352B26"/>
                </a:solidFill>
                <a:latin typeface="Arial"/>
                <a:ea typeface="Arial"/>
                <a:cs typeface="Arial"/>
              </a:rPr>
              <a:t>ORIGINAL_anomaly  ·  </a:t>
            </a:r>
            <a:r>
              <a:rPr sz="1725">
                <a:solidFill>
                  <a:srgbClr val="352B26"/>
                </a:solidFill>
                <a:latin typeface="Arial"/>
                <a:ea typeface="Arial"/>
                <a:cs typeface="Arial"/>
              </a:rPr>
              <a:t>HX-FYR3</a:t>
            </a:r>
            <a:endParaRPr sz="1725" b="1" i="0">
              <a:solidFill>
                <a:srgbClr val="352B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[Selected track]">
            <a:extLst>
              <a:ext uri="{FF2B5EF4-FFF2-40B4-BE49-F238E27FC236}">
                <a16:creationId xmlns:a16="http://schemas.microsoft.com/office/drawing/2014/main" id="{3AE8A4F5-BB35-4B7B-9D4D-64DB273AC8AC}"/>
              </a:ext>
            </a:extLst>
          </p:cNvPr>
          <p:cNvSpPr>
            <a:spLocks noGrp="1"/>
          </p:cNvSpPr>
          <p:nvPr/>
        </p:nvSpPr>
        <p:spPr>
          <a:xfrm>
            <a:off x="647700" y="5486400"/>
            <a:ext cx="5391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650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Agents for sustainable development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B2BC2DB-CBC1-4188-8191-3EE46BCE17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202363" y="1743075"/>
            <a:ext cx="5588000" cy="4191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B2BCEB6-17A4-4B68-9FD7-40A2C188FF5A}"/>
              </a:ext>
            </a:extLst>
          </p:cNvPr>
          <p:cNvSpPr>
            <a:spLocks noGrp="1"/>
          </p:cNvSpPr>
          <p:nvPr/>
        </p:nvSpPr>
        <p:spPr>
          <a:xfrm>
            <a:off x="0" y="5991225"/>
            <a:ext cx="12192000" cy="8667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1898720-4D12-4004-8719-B35415971E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90550" y="6145211"/>
            <a:ext cx="1495425" cy="59690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3FFA534-D7F4-4FA4-9308-464237BA15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2324100" y="6143625"/>
            <a:ext cx="581025" cy="5810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B3E5835-C8A2-4F7D-8DD3-9C6466E63C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3219450" y="6182797"/>
            <a:ext cx="1066800" cy="455057"/>
          </a:xfrm>
          <a:prstGeom prst="rect">
            <a:avLst/>
          </a:prstGeom>
        </p:spPr>
      </p:pic>
      <p:sp>
        <p:nvSpPr>
          <p:cNvPr id="13" name="MIT Bengaluru  ·  24 October 2026">
            <a:extLst>
              <a:ext uri="{FF2B5EF4-FFF2-40B4-BE49-F238E27FC236}">
                <a16:creationId xmlns:a16="http://schemas.microsoft.com/office/drawing/2014/main" id="{BCC6E161-1B58-4AF7-B240-835217FC5EE4}"/>
              </a:ext>
            </a:extLst>
          </p:cNvPr>
          <p:cNvSpPr>
            <a:spLocks noGrp="1"/>
          </p:cNvSpPr>
          <p:nvPr/>
        </p:nvSpPr>
        <p:spPr>
          <a:xfrm>
            <a:off x="6010275" y="6210300"/>
            <a:ext cx="5524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575" b="1" i="0">
                <a:solidFill>
                  <a:srgbClr val="352B26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1575" b="1" i="0">
                <a:solidFill>
                  <a:srgbClr val="352B26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352B26"/>
                </a:solidFill>
                <a:latin typeface="Arial"/>
                <a:ea typeface="Arial"/>
                <a:cs typeface="Arial"/>
              </a:rPr>
              <a:t>MIT Bengaluru  ·  24 October 2026</a:t>
            </a:r>
          </a:p>
        </p:txBody>
      </p:sp>
      <p:sp>
        <p:nvSpPr>
          <p:cNvPr id="14" name="School of Computer Engineering &amp; SDG Club × CGI">
            <a:extLst>
              <a:ext uri="{FF2B5EF4-FFF2-40B4-BE49-F238E27FC236}">
                <a16:creationId xmlns:a16="http://schemas.microsoft.com/office/drawing/2014/main" id="{E79A5D9F-FF0B-41F3-B0D8-D8B9385691C4}"/>
              </a:ext>
            </a:extLst>
          </p:cNvPr>
          <p:cNvSpPr>
            <a:spLocks noGrp="1"/>
          </p:cNvSpPr>
          <p:nvPr/>
        </p:nvSpPr>
        <p:spPr>
          <a:xfrm>
            <a:off x="5791200" y="6524625"/>
            <a:ext cx="57435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1200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School of Computer Engineering &amp; SDG Club × CGI</a:t>
            </a:r>
          </a:p>
        </p:txBody>
      </p:sp>
      <p:sp>
        <p:nvSpPr>
          <p:cNvPr id="16" name="reroute-tagline">
            <a:extLst>
              <a:ext uri="{FF2B5EF4-FFF2-40B4-BE49-F238E27FC236}">
                <a16:creationId xmlns:a16="http://schemas.microsoft.com/office/drawing/2014/main" id="{741AB0FC-8035-4C55-9DAB-DDFB9F2E25E9}"/>
              </a:ext>
            </a:extLst>
          </p:cNvPr>
          <p:cNvSpPr>
            <a:spLocks noGrp="1"/>
          </p:cNvSpPr>
          <p:nvPr/>
        </p:nvSpPr>
        <p:spPr>
          <a:xfrm>
            <a:off x="647700" y="3286125"/>
            <a:ext cx="52197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250" b="1">
                <a:solidFill>
                  <a:srgbClr val="352B26"/>
                </a:solidFill>
              </a:defRPr>
            </a:defPPr>
          </a:lstStyle>
          <a:p>
            <a:pPr>
              <a:buNone/>
              <a:defRPr sz="2250" b="1">
                <a:solidFill>
                  <a:srgbClr val="352B26"/>
                </a:solidFill>
              </a:defRPr>
            </a:pPr>
            <a:r>
              <a:rPr sz="2250" b="1">
                <a:solidFill>
                  <a:srgbClr val="352B26"/>
                </a:solidFill>
              </a:rPr>
              <a:t>A cancelled pickup</a:t>
            </a:r>
          </a:p>
          <a:p>
            <a:pPr>
              <a:buNone/>
              <a:defRPr sz="2250" b="1">
                <a:solidFill>
                  <a:srgbClr val="352B26"/>
                </a:solidFill>
              </a:defRPr>
            </a:pPr>
            <a:r>
              <a:rPr sz="2250" b="1">
                <a:solidFill>
                  <a:srgbClr val="352B26"/>
                </a:solidFill>
              </a:rPr>
              <a:t>deserves a second plan.</a:t>
            </a:r>
          </a:p>
        </p:txBody>
      </p:sp>
    </p:spTree>
    <p:extLst>
      <p:ext uri="{BB962C8B-B14F-4D97-AF65-F5344CB8AC3E}">
        <p14:creationId xmlns:p14="http://schemas.microsoft.com/office/powerpoint/2010/main" val="20642248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01 / PROBLEM &amp; USERS">
            <a:extLst>
              <a:ext uri="{FF2B5EF4-FFF2-40B4-BE49-F238E27FC236}">
                <a16:creationId xmlns:a16="http://schemas.microsoft.com/office/drawing/2014/main" id="{24681764-B3FF-4971-B156-13FC04C0E1BD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350" b="1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01 / PROBLEM &amp; USERS</a:t>
            </a:r>
          </a:p>
        </p:txBody>
      </p:sp>
      <p:sp>
        <p:nvSpPr>
          <p:cNvPr id="2" name="The problem worth solving">
            <a:extLst>
              <a:ext uri="{FF2B5EF4-FFF2-40B4-BE49-F238E27FC236}">
                <a16:creationId xmlns:a16="http://schemas.microsoft.com/office/drawing/2014/main" id="{5B369614-60A1-43EE-BF65-65A4E60AA2CE}"/>
              </a:ext>
            </a:extLst>
          </p:cNvPr>
          <p:cNvSpPr>
            <a:spLocks noGrp="1"/>
          </p:cNvSpPr>
          <p:nvPr/>
        </p:nvSpPr>
        <p:spPr>
          <a:xfrm>
            <a:off x="609600" y="866775"/>
            <a:ext cx="10972800" cy="752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600" b="1" i="0">
                <a:solidFill>
                  <a:srgbClr val="352B26"/>
                </a:solidFill>
                <a:latin typeface="Arial Black"/>
                <a:ea typeface="Arial Black"/>
                <a:cs typeface="Arial Black"/>
              </a:defRPr>
            </a:defPPr>
          </a:lstStyle>
          <a:p>
            <a:pPr algn="l">
              <a:buNone/>
              <a:defRPr sz="3600" b="1" i="0">
                <a:solidFill>
                  <a:srgbClr val="352B26"/>
                </a:solidFill>
                <a:latin typeface="Arial Black"/>
                <a:ea typeface="Arial Black"/>
                <a:cs typeface="Arial Black"/>
              </a:defRPr>
            </a:pPr>
            <a:r>
              <a:rPr sz="3600" b="1" i="0">
                <a:solidFill>
                  <a:srgbClr val="352B26"/>
                </a:solidFill>
                <a:latin typeface="Arial Black"/>
                <a:ea typeface="Arial Black"/>
                <a:cs typeface="Arial Black"/>
              </a:rPr>
              <a:t>When a food pickup falls through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508D5C4A-C60E-4D0D-BE81-22B15D1A5C5C}"/>
              </a:ext>
            </a:extLst>
          </p:cNvPr>
          <p:cNvSpPr>
            <a:spLocks noGrp="1"/>
          </p:cNvSpPr>
          <p:nvPr/>
        </p:nvSpPr>
        <p:spPr>
          <a:xfrm>
            <a:off x="609600" y="6334125"/>
            <a:ext cx="10972800" cy="0"/>
          </a:xfrm>
          <a:prstGeom prst="line">
            <a:avLst/>
          </a:prstGeom>
          <a:noFill/>
          <a:ln w="11430">
            <a:solidFill>
              <a:srgbClr val="D9C7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AgentOps 2026  /  Idea proposal">
            <a:extLst>
              <a:ext uri="{FF2B5EF4-FFF2-40B4-BE49-F238E27FC236}">
                <a16:creationId xmlns:a16="http://schemas.microsoft.com/office/drawing/2014/main" id="{BE596CA3-C3F0-469B-AF73-5FF97EF5A2CE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125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AgentOps 2026  /  Idea proposal</a:t>
            </a:r>
          </a:p>
        </p:txBody>
      </p:sp>
      <p:sp>
        <p:nvSpPr>
          <p:cNvPr id="5" name="02">
            <a:extLst>
              <a:ext uri="{FF2B5EF4-FFF2-40B4-BE49-F238E27FC236}">
                <a16:creationId xmlns:a16="http://schemas.microsoft.com/office/drawing/2014/main" id="{5F26DCCA-CB5C-4EAC-8FC9-07E697FE06B7}"/>
              </a:ext>
            </a:extLst>
          </p:cNvPr>
          <p:cNvSpPr>
            <a:spLocks noGrp="1"/>
          </p:cNvSpPr>
          <p:nvPr/>
        </p:nvSpPr>
        <p:spPr>
          <a:xfrm>
            <a:off x="10801350" y="6438900"/>
            <a:ext cx="781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1275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[Describe the problem in one clear sentence.]">
            <a:extLst>
              <a:ext uri="{FF2B5EF4-FFF2-40B4-BE49-F238E27FC236}">
                <a16:creationId xmlns:a16="http://schemas.microsoft.com/office/drawing/2014/main" id="{37904DEE-C551-4343-AD1D-93DF3B283E2F}"/>
              </a:ext>
            </a:extLst>
          </p:cNvPr>
          <p:cNvSpPr>
            <a:spLocks noGrp="1"/>
          </p:cNvSpPr>
          <p:nvPr/>
        </p:nvSpPr>
        <p:spPr>
          <a:xfrm>
            <a:off x="609600" y="1895475"/>
            <a:ext cx="106680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 i="0">
                <a:solidFill>
                  <a:srgbClr val="352B2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2550" b="1" i="0">
                <a:solidFill>
                  <a:srgbClr val="352B26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352B26"/>
                </a:solidFill>
                <a:latin typeface="Arial"/>
                <a:ea typeface="Arial"/>
                <a:cs typeface="Arial"/>
              </a:rPr>
              <a:t>The food is packed. The volunteer cancels.</a:t>
            </a:r>
          </a:p>
          <a:p>
            <a:pPr algn="l">
              <a:buNone/>
              <a:defRPr sz="2550" b="1" i="0">
                <a:solidFill>
                  <a:srgbClr val="352B26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352B26"/>
                </a:solidFill>
                <a:latin typeface="Arial"/>
                <a:ea typeface="Arial"/>
                <a:cs typeface="Arial"/>
              </a:rPr>
              <a:t>A new driver alone does not make the rescue feasible.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1E7A357D-C343-4FB4-80F8-D227A2C92C8E}"/>
              </a:ext>
            </a:extLst>
          </p:cNvPr>
          <p:cNvSpPr>
            <a:spLocks noGrp="1"/>
          </p:cNvSpPr>
          <p:nvPr/>
        </p:nvSpPr>
        <p:spPr>
          <a:xfrm>
            <a:off x="609600" y="2962275"/>
            <a:ext cx="10972800" cy="0"/>
          </a:xfrm>
          <a:prstGeom prst="line">
            <a:avLst/>
          </a:prstGeom>
          <a:noFill/>
          <a:ln w="11430">
            <a:solidFill>
              <a:srgbClr val="D9C7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WHO EXPERIENCES IT?">
            <a:extLst>
              <a:ext uri="{FF2B5EF4-FFF2-40B4-BE49-F238E27FC236}">
                <a16:creationId xmlns:a16="http://schemas.microsoft.com/office/drawing/2014/main" id="{B20C5416-EEDA-4097-8FA5-4FB5162EF785}"/>
              </a:ext>
            </a:extLst>
          </p:cNvPr>
          <p:cNvSpPr>
            <a:spLocks noGrp="1"/>
          </p:cNvSpPr>
          <p:nvPr/>
        </p:nvSpPr>
        <p:spPr>
          <a:xfrm>
            <a:off x="609600" y="3324225"/>
            <a:ext cx="48291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350" b="1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WHO EXPERIENCES IT?</a:t>
            </a:r>
          </a:p>
        </p:txBody>
      </p:sp>
      <p:sp>
        <p:nvSpPr>
          <p:cNvPr id="9" name="[Target users and the situation in which the problem occurs]">
            <a:extLst>
              <a:ext uri="{FF2B5EF4-FFF2-40B4-BE49-F238E27FC236}">
                <a16:creationId xmlns:a16="http://schemas.microsoft.com/office/drawing/2014/main" id="{3F00E022-8FB5-4B3A-B188-AA5D974710E8}"/>
              </a:ext>
            </a:extLst>
          </p:cNvPr>
          <p:cNvSpPr>
            <a:spLocks noGrp="1"/>
          </p:cNvSpPr>
          <p:nvPr/>
        </p:nvSpPr>
        <p:spPr>
          <a:xfrm>
            <a:off x="609600" y="3609976"/>
            <a:ext cx="5742039" cy="87629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950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Food-rescue dispatchers at campus</a:t>
            </a:r>
          </a:p>
          <a:p>
            <a:pPr algn="l">
              <a:buNone/>
              <a:defRPr sz="1950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dining halls and local NGO drives.</a:t>
            </a:r>
          </a:p>
          <a:p>
            <a:pPr>
              <a:buNone/>
              <a:defRPr sz="1950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796456"/>
                </a:solidFill>
                <a:latin typeface="Arial"/>
                <a:ea typeface="Arial"/>
                <a:cs typeface="Arial"/>
              </a:rPr>
              <a:t>First use case: one failed pickup.</a:t>
            </a:r>
            <a:endParaRPr sz="1950" b="0" i="0">
              <a:solidFill>
                <a:srgbClr val="79645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WHAT HAPPENS TODAY?">
            <a:extLst>
              <a:ext uri="{FF2B5EF4-FFF2-40B4-BE49-F238E27FC236}">
                <a16:creationId xmlns:a16="http://schemas.microsoft.com/office/drawing/2014/main" id="{A9C4A188-66A1-49CB-9B8D-1540A623DEF9}"/>
              </a:ext>
            </a:extLst>
          </p:cNvPr>
          <p:cNvSpPr>
            <a:spLocks noGrp="1"/>
          </p:cNvSpPr>
          <p:nvPr/>
        </p:nvSpPr>
        <p:spPr>
          <a:xfrm>
            <a:off x="6515100" y="3324225"/>
            <a:ext cx="4819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350" b="1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WHAT HAPPENS TODAY?</a:t>
            </a:r>
          </a:p>
        </p:txBody>
      </p:sp>
      <p:sp>
        <p:nvSpPr>
          <p:cNvPr id="11" name="[Current workaround and its main limitation]">
            <a:extLst>
              <a:ext uri="{FF2B5EF4-FFF2-40B4-BE49-F238E27FC236}">
                <a16:creationId xmlns:a16="http://schemas.microsoft.com/office/drawing/2014/main" id="{EDC37065-BFB8-4D3B-BD84-7CD97E9247D6}"/>
              </a:ext>
            </a:extLst>
          </p:cNvPr>
          <p:cNvSpPr>
            <a:spLocks noGrp="1"/>
          </p:cNvSpPr>
          <p:nvPr/>
        </p:nvSpPr>
        <p:spPr>
          <a:xfrm>
            <a:off x="6515100" y="3705225"/>
            <a:ext cx="48196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950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Who can carry the donation?</a:t>
            </a:r>
          </a:p>
          <a:p>
            <a:pPr algn="l">
              <a:buNone/>
              <a:defRPr sz="1950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Who can receive it before closing?</a:t>
            </a:r>
          </a:p>
          <a:p>
            <a:pPr algn="l">
              <a:buNone/>
              <a:defRPr sz="1950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Have both parties confirmed?</a:t>
            </a:r>
          </a:p>
        </p:txBody>
      </p:sp>
      <p:sp>
        <p:nvSpPr>
          <p:cNvPr id="12" name="WHY IT MATTERS">
            <a:extLst>
              <a:ext uri="{FF2B5EF4-FFF2-40B4-BE49-F238E27FC236}">
                <a16:creationId xmlns:a16="http://schemas.microsoft.com/office/drawing/2014/main" id="{9677D32B-6FA6-4F68-B890-6E5176FEC75E}"/>
              </a:ext>
            </a:extLst>
          </p:cNvPr>
          <p:cNvSpPr>
            <a:spLocks noGrp="1"/>
          </p:cNvSpPr>
          <p:nvPr/>
        </p:nvSpPr>
        <p:spPr>
          <a:xfrm>
            <a:off x="609600" y="5048251"/>
            <a:ext cx="10620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350" b="1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13" name="[The cost, delay, effort, or missed opportunity — with a source or observation]">
            <a:extLst>
              <a:ext uri="{FF2B5EF4-FFF2-40B4-BE49-F238E27FC236}">
                <a16:creationId xmlns:a16="http://schemas.microsoft.com/office/drawing/2014/main" id="{61EF6297-8EB9-4A43-9541-97736E0C519B}"/>
              </a:ext>
            </a:extLst>
          </p:cNvPr>
          <p:cNvSpPr>
            <a:spLocks noGrp="1"/>
          </p:cNvSpPr>
          <p:nvPr/>
        </p:nvSpPr>
        <p:spPr>
          <a:xfrm>
            <a:off x="609600" y="5286375"/>
            <a:ext cx="10620375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800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Food Rescue Hero tracks rescues missed when volunteers do not claim or complete them.</a:t>
            </a:r>
          </a:p>
          <a:p>
            <a:pPr algn="l">
              <a:buNone/>
              <a:defRPr sz="1800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UNEP: food service accounts for 28% of food waste across retail and consumer sectors.*</a:t>
            </a:r>
          </a:p>
        </p:txBody>
      </p:sp>
      <p:sp>
        <p:nvSpPr>
          <p:cNvPr id="15" name="evidence-qualifier">
            <a:extLst>
              <a:ext uri="{FF2B5EF4-FFF2-40B4-BE49-F238E27FC236}">
                <a16:creationId xmlns:a16="http://schemas.microsoft.com/office/drawing/2014/main" id="{9696A530-4615-4D55-9011-9B86B53A896A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75" b="0">
                <a:solidFill>
                  <a:srgbClr val="796456"/>
                </a:solidFill>
              </a:defRPr>
            </a:defPPr>
          </a:lstStyle>
          <a:p>
            <a:pPr>
              <a:buNone/>
              <a:defRPr sz="1275" b="0">
                <a:solidFill>
                  <a:srgbClr val="796456"/>
                </a:solidFill>
              </a:defRPr>
            </a:pPr>
            <a:r>
              <a:rPr sz="1275" b="0">
                <a:solidFill>
                  <a:srgbClr val="796456"/>
                </a:solidFill>
              </a:rPr>
              <a:t>*2022 estimate, including inedible parts. UNEP Food Waste Index 2024. Global context, not recoverable volume.</a:t>
            </a:r>
          </a:p>
        </p:txBody>
      </p:sp>
    </p:spTree>
    <p:extLst>
      <p:ext uri="{BB962C8B-B14F-4D97-AF65-F5344CB8AC3E}">
        <p14:creationId xmlns:p14="http://schemas.microsoft.com/office/powerpoint/2010/main" val="1415128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02 / SOLUTION">
            <a:extLst>
              <a:ext uri="{FF2B5EF4-FFF2-40B4-BE49-F238E27FC236}">
                <a16:creationId xmlns:a16="http://schemas.microsoft.com/office/drawing/2014/main" id="{9B912881-17F4-49B9-AB78-0A12501920C3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350" b="1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02 / SOLUTION</a:t>
            </a:r>
          </a:p>
        </p:txBody>
      </p:sp>
      <p:sp>
        <p:nvSpPr>
          <p:cNvPr id="2" name="Your proposed solution">
            <a:extLst>
              <a:ext uri="{FF2B5EF4-FFF2-40B4-BE49-F238E27FC236}">
                <a16:creationId xmlns:a16="http://schemas.microsoft.com/office/drawing/2014/main" id="{3FBF690B-BA13-4C15-93AB-848EECA67499}"/>
              </a:ext>
            </a:extLst>
          </p:cNvPr>
          <p:cNvSpPr>
            <a:spLocks noGrp="1"/>
          </p:cNvSpPr>
          <p:nvPr/>
        </p:nvSpPr>
        <p:spPr>
          <a:xfrm>
            <a:off x="609600" y="866775"/>
            <a:ext cx="10972800" cy="752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600" b="1" i="0">
                <a:solidFill>
                  <a:srgbClr val="352B26"/>
                </a:solidFill>
                <a:latin typeface="Arial Black"/>
                <a:ea typeface="Arial Black"/>
                <a:cs typeface="Arial Black"/>
              </a:defRPr>
            </a:defPPr>
          </a:lstStyle>
          <a:p>
            <a:pPr algn="l">
              <a:buNone/>
              <a:defRPr sz="3600" b="1" i="0">
                <a:solidFill>
                  <a:srgbClr val="352B26"/>
                </a:solidFill>
                <a:latin typeface="Arial Black"/>
                <a:ea typeface="Arial Black"/>
                <a:cs typeface="Arial Black"/>
              </a:defRPr>
            </a:pPr>
            <a:r>
              <a:rPr sz="3600" b="1" i="0">
                <a:solidFill>
                  <a:srgbClr val="352B26"/>
                </a:solidFill>
                <a:latin typeface="Arial Black"/>
                <a:ea typeface="Arial Black"/>
                <a:cs typeface="Arial Black"/>
              </a:rPr>
              <a:t>A feasible replacement, confirmed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643CCDF4-2B92-4E6A-AEB2-8DF063565012}"/>
              </a:ext>
            </a:extLst>
          </p:cNvPr>
          <p:cNvSpPr>
            <a:spLocks noGrp="1"/>
          </p:cNvSpPr>
          <p:nvPr/>
        </p:nvSpPr>
        <p:spPr>
          <a:xfrm>
            <a:off x="609600" y="6334125"/>
            <a:ext cx="10972800" cy="0"/>
          </a:xfrm>
          <a:prstGeom prst="line">
            <a:avLst/>
          </a:prstGeom>
          <a:noFill/>
          <a:ln w="11430">
            <a:solidFill>
              <a:srgbClr val="D9C7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AgentOps 2026  /  Idea proposal">
            <a:extLst>
              <a:ext uri="{FF2B5EF4-FFF2-40B4-BE49-F238E27FC236}">
                <a16:creationId xmlns:a16="http://schemas.microsoft.com/office/drawing/2014/main" id="{EA74371B-FA29-4C2D-9BF7-CCDC2D718440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125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AgentOps 2026  /  Idea proposal</a:t>
            </a:r>
          </a:p>
        </p:txBody>
      </p:sp>
      <p:sp>
        <p:nvSpPr>
          <p:cNvPr id="5" name="03">
            <a:extLst>
              <a:ext uri="{FF2B5EF4-FFF2-40B4-BE49-F238E27FC236}">
                <a16:creationId xmlns:a16="http://schemas.microsoft.com/office/drawing/2014/main" id="{81D7C16F-A781-4E1E-BB8D-B13822378CC2}"/>
              </a:ext>
            </a:extLst>
          </p:cNvPr>
          <p:cNvSpPr>
            <a:spLocks noGrp="1"/>
          </p:cNvSpPr>
          <p:nvPr/>
        </p:nvSpPr>
        <p:spPr>
          <a:xfrm>
            <a:off x="10801350" y="6438900"/>
            <a:ext cx="781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1275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[We help a specific user achieve an outcome through an agent that performs usefu">
            <a:extLst>
              <a:ext uri="{FF2B5EF4-FFF2-40B4-BE49-F238E27FC236}">
                <a16:creationId xmlns:a16="http://schemas.microsoft.com/office/drawing/2014/main" id="{9DF259B3-BD6E-4325-986A-D1BB60A2033F}"/>
              </a:ext>
            </a:extLst>
          </p:cNvPr>
          <p:cNvSpPr>
            <a:spLocks noGrp="1"/>
          </p:cNvSpPr>
          <p:nvPr/>
        </p:nvSpPr>
        <p:spPr>
          <a:xfrm>
            <a:off x="609600" y="1895475"/>
            <a:ext cx="10810875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 i="0">
                <a:solidFill>
                  <a:srgbClr val="352B2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2325" b="1" i="0">
                <a:solidFill>
                  <a:srgbClr val="352B26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352B26"/>
                </a:solidFill>
                <a:latin typeface="Arial"/>
                <a:ea typeface="Arial"/>
                <a:cs typeface="Arial"/>
              </a:rPr>
              <a:t>Proposed demo: reject an infeasible match, find a valid replacement</a:t>
            </a:r>
          </a:p>
          <a:p>
            <a:pPr algn="l">
              <a:buNone/>
              <a:defRPr sz="2325" b="1" i="0">
                <a:solidFill>
                  <a:srgbClr val="352B26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352B26"/>
                </a:solidFill>
                <a:latin typeface="Arial"/>
                <a:ea typeface="Arial"/>
                <a:cs typeface="Arial"/>
              </a:rPr>
              <a:t>and confirm it only after dispatcher approval.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F579FFE9-6A8D-4B45-95FF-8D5333093231}"/>
              </a:ext>
            </a:extLst>
          </p:cNvPr>
          <p:cNvSpPr>
            <a:spLocks noGrp="1"/>
          </p:cNvSpPr>
          <p:nvPr/>
        </p:nvSpPr>
        <p:spPr>
          <a:xfrm>
            <a:off x="609600" y="2848947"/>
            <a:ext cx="3381375" cy="0"/>
          </a:xfrm>
          <a:prstGeom prst="line">
            <a:avLst/>
          </a:prstGeom>
          <a:noFill/>
          <a:ln w="11430">
            <a:solidFill>
              <a:srgbClr val="D9C7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01  USER INPUT">
            <a:extLst>
              <a:ext uri="{FF2B5EF4-FFF2-40B4-BE49-F238E27FC236}">
                <a16:creationId xmlns:a16="http://schemas.microsoft.com/office/drawing/2014/main" id="{36F9FCB8-870E-4243-BB0C-A093B83B4279}"/>
              </a:ext>
            </a:extLst>
          </p:cNvPr>
          <p:cNvSpPr>
            <a:spLocks noGrp="1"/>
          </p:cNvSpPr>
          <p:nvPr/>
        </p:nvSpPr>
        <p:spPr>
          <a:xfrm>
            <a:off x="609599" y="3028565"/>
            <a:ext cx="338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350" b="1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01  CANCELLATION</a:t>
            </a:r>
          </a:p>
        </p:txBody>
      </p:sp>
      <p:sp>
        <p:nvSpPr>
          <p:cNvPr id="9" name="[What the user asks for or provides]">
            <a:extLst>
              <a:ext uri="{FF2B5EF4-FFF2-40B4-BE49-F238E27FC236}">
                <a16:creationId xmlns:a16="http://schemas.microsoft.com/office/drawing/2014/main" id="{7443BA7A-6A87-409E-BB3D-9E21C7B176FC}"/>
              </a:ext>
            </a:extLst>
          </p:cNvPr>
          <p:cNvSpPr>
            <a:spLocks noGrp="1"/>
          </p:cNvSpPr>
          <p:nvPr/>
        </p:nvSpPr>
        <p:spPr>
          <a:xfrm>
            <a:off x="609599" y="3514919"/>
            <a:ext cx="3514531" cy="146801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950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14:00 pickup cancelled.</a:t>
            </a:r>
          </a:p>
          <a:p>
            <a:pPr>
              <a:buNone/>
              <a:defRPr sz="1950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796456"/>
                </a:solidFill>
                <a:latin typeface="Arial"/>
                <a:ea typeface="Arial"/>
                <a:cs typeface="Arial"/>
              </a:rPr>
              <a:t>24 boxes need delivery</a:t>
            </a:r>
            <a:endParaRPr sz="1950" b="0" i="0">
              <a:solidFill>
                <a:srgbClr val="796456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1950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796456"/>
                </a:solidFill>
                <a:latin typeface="Arial"/>
                <a:ea typeface="Arial"/>
                <a:cs typeface="Arial"/>
              </a:rPr>
              <a:t>by 14:30.</a:t>
            </a:r>
            <a:endParaRPr sz="1950" b="0" i="0">
              <a:solidFill>
                <a:srgbClr val="796456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1950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796456"/>
                </a:solidFill>
                <a:latin typeface="Arial"/>
                <a:ea typeface="Arial"/>
                <a:cs typeface="Arial"/>
              </a:rPr>
              <a:t>The case stays open.</a:t>
            </a:r>
            <a:endParaRPr sz="1950" b="0" i="0">
              <a:solidFill>
                <a:srgbClr val="79645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96FDE183-43E9-423B-BF2D-70C9C6D58DC5}"/>
              </a:ext>
            </a:extLst>
          </p:cNvPr>
          <p:cNvSpPr>
            <a:spLocks noGrp="1"/>
          </p:cNvSpPr>
          <p:nvPr/>
        </p:nvSpPr>
        <p:spPr>
          <a:xfrm>
            <a:off x="4324350" y="2848947"/>
            <a:ext cx="3381375" cy="0"/>
          </a:xfrm>
          <a:prstGeom prst="line">
            <a:avLst/>
          </a:prstGeom>
          <a:noFill/>
          <a:ln w="11430">
            <a:solidFill>
              <a:srgbClr val="D9C7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02  AGENT ACTION">
            <a:extLst>
              <a:ext uri="{FF2B5EF4-FFF2-40B4-BE49-F238E27FC236}">
                <a16:creationId xmlns:a16="http://schemas.microsoft.com/office/drawing/2014/main" id="{964ED993-70D8-4812-BE2D-76D4ECDB2249}"/>
              </a:ext>
            </a:extLst>
          </p:cNvPr>
          <p:cNvSpPr>
            <a:spLocks noGrp="1"/>
          </p:cNvSpPr>
          <p:nvPr/>
        </p:nvSpPr>
        <p:spPr>
          <a:xfrm>
            <a:off x="4391025" y="3016706"/>
            <a:ext cx="338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350" b="1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02  INVESTIGATE &amp; REPLAN</a:t>
            </a:r>
          </a:p>
        </p:txBody>
      </p:sp>
      <p:sp>
        <p:nvSpPr>
          <p:cNvPr id="12" name="[What the system does on the user’s behalf]">
            <a:extLst>
              <a:ext uri="{FF2B5EF4-FFF2-40B4-BE49-F238E27FC236}">
                <a16:creationId xmlns:a16="http://schemas.microsoft.com/office/drawing/2014/main" id="{FCD397E0-8EF0-4798-9902-6005D53B22DD}"/>
              </a:ext>
            </a:extLst>
          </p:cNvPr>
          <p:cNvSpPr>
            <a:spLocks noGrp="1"/>
          </p:cNvSpPr>
          <p:nvPr/>
        </p:nvSpPr>
        <p:spPr>
          <a:xfrm>
            <a:off x="4391025" y="3489842"/>
            <a:ext cx="33147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950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Recipient A has room for 8.</a:t>
            </a:r>
          </a:p>
          <a:p>
            <a:pPr algn="l">
              <a:buNone/>
              <a:defRPr sz="1950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Reject A for all 24 boxes.</a:t>
            </a:r>
          </a:p>
          <a:p>
            <a:pPr algn="l">
              <a:buNone/>
              <a:defRPr sz="1950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Check volunteer capacity</a:t>
            </a:r>
          </a:p>
          <a:p>
            <a:pPr algn="l">
              <a:buNone/>
              <a:defRPr sz="1950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and recipient B’s window.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1A7C04B1-6DF2-47A9-8A17-90BCB08864A8}"/>
              </a:ext>
            </a:extLst>
          </p:cNvPr>
          <p:cNvSpPr>
            <a:spLocks noGrp="1"/>
          </p:cNvSpPr>
          <p:nvPr/>
        </p:nvSpPr>
        <p:spPr>
          <a:xfrm>
            <a:off x="8172450" y="2848947"/>
            <a:ext cx="3381375" cy="0"/>
          </a:xfrm>
          <a:prstGeom prst="line">
            <a:avLst/>
          </a:prstGeom>
          <a:noFill/>
          <a:ln w="11430">
            <a:solidFill>
              <a:srgbClr val="D9C7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03  USER OUTCOME">
            <a:extLst>
              <a:ext uri="{FF2B5EF4-FFF2-40B4-BE49-F238E27FC236}">
                <a16:creationId xmlns:a16="http://schemas.microsoft.com/office/drawing/2014/main" id="{CEE34507-0A43-494C-83E6-E0DC7BA20784}"/>
              </a:ext>
            </a:extLst>
          </p:cNvPr>
          <p:cNvSpPr>
            <a:spLocks noGrp="1"/>
          </p:cNvSpPr>
          <p:nvPr/>
        </p:nvSpPr>
        <p:spPr>
          <a:xfrm>
            <a:off x="8201025" y="3004264"/>
            <a:ext cx="338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350" b="1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03  APPROVE &amp; CONFIRM</a:t>
            </a:r>
          </a:p>
        </p:txBody>
      </p:sp>
      <p:sp>
        <p:nvSpPr>
          <p:cNvPr id="15" name="[What the user receives and why it helps]">
            <a:extLst>
              <a:ext uri="{FF2B5EF4-FFF2-40B4-BE49-F238E27FC236}">
                <a16:creationId xmlns:a16="http://schemas.microsoft.com/office/drawing/2014/main" id="{DF1713DE-0425-4B65-BB6F-572B6D3F007E}"/>
              </a:ext>
            </a:extLst>
          </p:cNvPr>
          <p:cNvSpPr>
            <a:spLocks noGrp="1"/>
          </p:cNvSpPr>
          <p:nvPr/>
        </p:nvSpPr>
        <p:spPr>
          <a:xfrm>
            <a:off x="8172450" y="3489842"/>
            <a:ext cx="33147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950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B accepts all 24 boxes.</a:t>
            </a:r>
          </a:p>
          <a:p>
            <a:pPr algn="l">
              <a:buNone/>
              <a:defRPr sz="1950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Fixture arrival: 14:22.</a:t>
            </a:r>
          </a:p>
          <a:p>
            <a:pPr algn="l">
              <a:buNone/>
              <a:defRPr sz="1950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Dispatcher approves.</a:t>
            </a:r>
          </a:p>
          <a:p>
            <a:pPr algn="l">
              <a:buNone/>
              <a:defRPr sz="1950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Driver and B confirm.</a:t>
            </a:r>
          </a:p>
        </p:txBody>
      </p:sp>
      <p:sp>
        <p:nvSpPr>
          <p:cNvPr id="16" name="CORE VALUE">
            <a:extLst>
              <a:ext uri="{FF2B5EF4-FFF2-40B4-BE49-F238E27FC236}">
                <a16:creationId xmlns:a16="http://schemas.microsoft.com/office/drawing/2014/main" id="{0F0837AC-7233-4457-9512-1B7DE1413C9B}"/>
              </a:ext>
            </a:extLst>
          </p:cNvPr>
          <p:cNvSpPr>
            <a:spLocks noGrp="1"/>
          </p:cNvSpPr>
          <p:nvPr/>
        </p:nvSpPr>
        <p:spPr>
          <a:xfrm>
            <a:off x="609600" y="54292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350" b="1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CORE VALUE</a:t>
            </a:r>
          </a:p>
        </p:txBody>
      </p:sp>
      <p:sp>
        <p:nvSpPr>
          <p:cNvPr id="17" name="[One benefit that makes this worth using]">
            <a:extLst>
              <a:ext uri="{FF2B5EF4-FFF2-40B4-BE49-F238E27FC236}">
                <a16:creationId xmlns:a16="http://schemas.microsoft.com/office/drawing/2014/main" id="{071A36C9-0C4A-439A-81E8-B810ED3C894C}"/>
              </a:ext>
            </a:extLst>
          </p:cNvPr>
          <p:cNvSpPr>
            <a:spLocks noGrp="1"/>
          </p:cNvSpPr>
          <p:nvPr/>
        </p:nvSpPr>
        <p:spPr>
          <a:xfrm>
            <a:off x="2552700" y="5381625"/>
            <a:ext cx="8667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950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A confirmed plan with the checks that justify it.</a:t>
            </a:r>
          </a:p>
        </p:txBody>
      </p:sp>
      <p:sp>
        <p:nvSpPr>
          <p:cNvPr id="19" name="demo-disclosure">
            <a:extLst>
              <a:ext uri="{FF2B5EF4-FFF2-40B4-BE49-F238E27FC236}">
                <a16:creationId xmlns:a16="http://schemas.microsoft.com/office/drawing/2014/main" id="{639A9FCD-A7ED-4428-BF70-8799A004171F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75" b="0">
                <a:solidFill>
                  <a:srgbClr val="796456"/>
                </a:solidFill>
              </a:defRPr>
            </a:defPPr>
          </a:lstStyle>
          <a:p>
            <a:pPr>
              <a:buNone/>
              <a:defRPr sz="1275" b="0">
                <a:solidFill>
                  <a:srgbClr val="796456"/>
                </a:solidFill>
              </a:defRPr>
            </a:pPr>
            <a:r>
              <a:rPr sz="1275" b="0">
                <a:solidFill>
                  <a:srgbClr val="796456"/>
                </a:solidFill>
              </a:rPr>
              <a:t>Illustrative sandbox scenario. Synthetic capacities, travel times and replies. No real delivery claim.</a:t>
            </a:r>
          </a:p>
        </p:txBody>
      </p:sp>
    </p:spTree>
    <p:extLst>
      <p:ext uri="{BB962C8B-B14F-4D97-AF65-F5344CB8AC3E}">
        <p14:creationId xmlns:p14="http://schemas.microsoft.com/office/powerpoint/2010/main" val="1160270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3ED3B73-E73A-4377-AEA9-399D478B0C9B}"/>
              </a:ext>
            </a:extLst>
          </p:cNvPr>
          <p:cNvCxnSpPr>
            <a:stCxn id="13" idx="3"/>
            <a:endCxn id="16" idx="1"/>
          </p:cNvCxnSpPr>
          <p:nvPr/>
        </p:nvCxnSpPr>
        <p:spPr>
          <a:xfrm>
            <a:off x="8763000" y="3328988"/>
            <a:ext cx="304800" cy="0"/>
          </a:xfrm>
          <a:prstGeom prst="straightConnector1">
            <a:avLst/>
          </a:prstGeom>
          <a:ln w="19050">
            <a:solidFill>
              <a:srgbClr val="796456"/>
            </a:solidFill>
            <a:prstDash val="solid"/>
            <a:tailEnd type="arrow" w="med" len="med"/>
          </a:ln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C85FC2E-1B63-40A7-8529-D6CA133DFB58}"/>
              </a:ext>
            </a:extLst>
          </p:cNvPr>
          <p:cNvCxnSpPr>
            <a:stCxn id="10" idx="3"/>
            <a:endCxn id="13" idx="1"/>
          </p:cNvCxnSpPr>
          <p:nvPr/>
        </p:nvCxnSpPr>
        <p:spPr>
          <a:xfrm>
            <a:off x="5943600" y="3328988"/>
            <a:ext cx="304800" cy="0"/>
          </a:xfrm>
          <a:prstGeom prst="straightConnector1">
            <a:avLst/>
          </a:prstGeom>
          <a:ln w="19050">
            <a:solidFill>
              <a:srgbClr val="796456"/>
            </a:solidFill>
            <a:prstDash val="solid"/>
            <a:tailEnd type="arrow" w="med" len="med"/>
          </a:ln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BB4E17F-6FCB-4D44-ABA8-8F2A32004611}"/>
              </a:ext>
            </a:extLst>
          </p:cNvPr>
          <p:cNvCxnSpPr>
            <a:stCxn id="7" idx="3"/>
            <a:endCxn id="10" idx="1"/>
          </p:cNvCxnSpPr>
          <p:nvPr/>
        </p:nvCxnSpPr>
        <p:spPr>
          <a:xfrm>
            <a:off x="3124200" y="3328988"/>
            <a:ext cx="304800" cy="0"/>
          </a:xfrm>
          <a:prstGeom prst="straightConnector1">
            <a:avLst/>
          </a:prstGeom>
          <a:ln w="19050">
            <a:solidFill>
              <a:srgbClr val="796456"/>
            </a:solidFill>
            <a:prstDash val="solid"/>
            <a:tailEnd type="arrow" w="med" len="med"/>
          </a:ln>
        </p:spPr>
      </p:cxnSp>
      <p:sp>
        <p:nvSpPr>
          <p:cNvPr id="25" name="03 / AGENTIC APPROACH">
            <a:extLst>
              <a:ext uri="{FF2B5EF4-FFF2-40B4-BE49-F238E27FC236}">
                <a16:creationId xmlns:a16="http://schemas.microsoft.com/office/drawing/2014/main" id="{EEA7992D-FC57-4532-AC5A-B867900E01FA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350" b="1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03 / AGENTIC APPROACH</a:t>
            </a:r>
          </a:p>
        </p:txBody>
      </p:sp>
      <p:sp>
        <p:nvSpPr>
          <p:cNvPr id="2" name="How the agent works">
            <a:extLst>
              <a:ext uri="{FF2B5EF4-FFF2-40B4-BE49-F238E27FC236}">
                <a16:creationId xmlns:a16="http://schemas.microsoft.com/office/drawing/2014/main" id="{57B586C2-987A-452E-B807-14B5232CB463}"/>
              </a:ext>
            </a:extLst>
          </p:cNvPr>
          <p:cNvSpPr>
            <a:spLocks noGrp="1"/>
          </p:cNvSpPr>
          <p:nvPr/>
        </p:nvSpPr>
        <p:spPr>
          <a:xfrm>
            <a:off x="609600" y="866775"/>
            <a:ext cx="10972800" cy="752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600" b="1" i="0">
                <a:solidFill>
                  <a:srgbClr val="352B26"/>
                </a:solidFill>
                <a:latin typeface="Arial Black"/>
                <a:ea typeface="Arial Black"/>
                <a:cs typeface="Arial Black"/>
              </a:defRPr>
            </a:defPPr>
          </a:lstStyle>
          <a:p>
            <a:pPr algn="l">
              <a:buNone/>
              <a:defRPr sz="3600" b="1" i="0">
                <a:solidFill>
                  <a:srgbClr val="352B26"/>
                </a:solidFill>
                <a:latin typeface="Arial Black"/>
                <a:ea typeface="Arial Black"/>
                <a:cs typeface="Arial Black"/>
              </a:defRPr>
            </a:pPr>
            <a:r>
              <a:rPr sz="3600" b="1" i="0">
                <a:solidFill>
                  <a:srgbClr val="352B26"/>
                </a:solidFill>
                <a:latin typeface="Arial Black"/>
                <a:ea typeface="Arial Black"/>
                <a:cs typeface="Arial Black"/>
              </a:rPr>
              <a:t>One agent, a checked recovery loop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2221B3D9-26C6-420B-A4BB-391A234D76D8}"/>
              </a:ext>
            </a:extLst>
          </p:cNvPr>
          <p:cNvSpPr>
            <a:spLocks noGrp="1"/>
          </p:cNvSpPr>
          <p:nvPr/>
        </p:nvSpPr>
        <p:spPr>
          <a:xfrm>
            <a:off x="609600" y="6334125"/>
            <a:ext cx="10972800" cy="0"/>
          </a:xfrm>
          <a:prstGeom prst="line">
            <a:avLst/>
          </a:prstGeom>
          <a:noFill/>
          <a:ln w="11430">
            <a:solidFill>
              <a:srgbClr val="D9C7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AgentOps 2026  /  Idea proposal">
            <a:extLst>
              <a:ext uri="{FF2B5EF4-FFF2-40B4-BE49-F238E27FC236}">
                <a16:creationId xmlns:a16="http://schemas.microsoft.com/office/drawing/2014/main" id="{C1C49F80-6C5D-4847-9092-9A51ACA4C3AC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125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AgentOps 2026  /  Idea proposal</a:t>
            </a:r>
          </a:p>
        </p:txBody>
      </p:sp>
      <p:sp>
        <p:nvSpPr>
          <p:cNvPr id="5" name="04">
            <a:extLst>
              <a:ext uri="{FF2B5EF4-FFF2-40B4-BE49-F238E27FC236}">
                <a16:creationId xmlns:a16="http://schemas.microsoft.com/office/drawing/2014/main" id="{306724EB-A258-4881-908A-C9D719E4121E}"/>
              </a:ext>
            </a:extLst>
          </p:cNvPr>
          <p:cNvSpPr>
            <a:spLocks noGrp="1"/>
          </p:cNvSpPr>
          <p:nvPr/>
        </p:nvSpPr>
        <p:spPr>
          <a:xfrm>
            <a:off x="10801350" y="6438900"/>
            <a:ext cx="781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1275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[What goal does the agent pursue, and what can it decide?]">
            <a:extLst>
              <a:ext uri="{FF2B5EF4-FFF2-40B4-BE49-F238E27FC236}">
                <a16:creationId xmlns:a16="http://schemas.microsoft.com/office/drawing/2014/main" id="{12B5859B-9D13-445F-BDEE-DE5A6F9B957A}"/>
              </a:ext>
            </a:extLst>
          </p:cNvPr>
          <p:cNvSpPr>
            <a:spLocks noGrp="1"/>
          </p:cNvSpPr>
          <p:nvPr/>
        </p:nvSpPr>
        <p:spPr>
          <a:xfrm>
            <a:off x="609600" y="1828800"/>
            <a:ext cx="10972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 i="0">
                <a:solidFill>
                  <a:srgbClr val="352B2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2025" b="1" i="0">
                <a:solidFill>
                  <a:srgbClr val="352B26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352B26"/>
                </a:solidFill>
                <a:latin typeface="Arial"/>
                <a:ea typeface="Arial"/>
                <a:cs typeface="Arial"/>
              </a:rPr>
              <a:t>The LLM interprets the cancellation and investigates missing facts.</a:t>
            </a:r>
          </a:p>
          <a:p>
            <a:pPr algn="l">
              <a:buNone/>
              <a:defRPr sz="2025" b="1" i="0">
                <a:solidFill>
                  <a:srgbClr val="352B26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352B26"/>
                </a:solidFill>
                <a:latin typeface="Arial"/>
                <a:ea typeface="Arial"/>
                <a:cs typeface="Arial"/>
              </a:rPr>
              <a:t>Python validates each proposed assignment before any booking.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1D67DC0-0FF1-410C-8923-CBF940C08DCF}"/>
              </a:ext>
            </a:extLst>
          </p:cNvPr>
          <p:cNvSpPr>
            <a:spLocks noGrp="1"/>
          </p:cNvSpPr>
          <p:nvPr/>
        </p:nvSpPr>
        <p:spPr>
          <a:xfrm>
            <a:off x="609600" y="2895600"/>
            <a:ext cx="2514600" cy="866775"/>
          </a:xfrm>
          <a:prstGeom prst="rect">
            <a:avLst/>
          </a:prstGeom>
          <a:solidFill>
            <a:srgbClr val="EDDCCD"/>
          </a:solidFill>
          <a:ln w="11430">
            <a:solidFill>
              <a:srgbClr val="D9C7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Goal &amp; context">
            <a:extLst>
              <a:ext uri="{FF2B5EF4-FFF2-40B4-BE49-F238E27FC236}">
                <a16:creationId xmlns:a16="http://schemas.microsoft.com/office/drawing/2014/main" id="{D8F4C8E1-E7DF-4227-B1F6-ACDF1BE48B03}"/>
              </a:ext>
            </a:extLst>
          </p:cNvPr>
          <p:cNvSpPr>
            <a:spLocks noGrp="1"/>
          </p:cNvSpPr>
          <p:nvPr/>
        </p:nvSpPr>
        <p:spPr>
          <a:xfrm>
            <a:off x="762000" y="3124200"/>
            <a:ext cx="2209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875" b="1" i="0">
                <a:solidFill>
                  <a:srgbClr val="352B26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875" b="1" i="0">
                <a:solidFill>
                  <a:srgbClr val="352B26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352B26"/>
                </a:solidFill>
                <a:latin typeface="Arial"/>
                <a:ea typeface="Arial"/>
                <a:cs typeface="Arial"/>
              </a:rPr>
              <a:t>Read case</a:t>
            </a:r>
          </a:p>
        </p:txBody>
      </p:sp>
      <p:sp>
        <p:nvSpPr>
          <p:cNvPr id="9" name="[Inputs and constraints]">
            <a:extLst>
              <a:ext uri="{FF2B5EF4-FFF2-40B4-BE49-F238E27FC236}">
                <a16:creationId xmlns:a16="http://schemas.microsoft.com/office/drawing/2014/main" id="{8BE53875-5F69-4A17-8631-66D24328A9AE}"/>
              </a:ext>
            </a:extLst>
          </p:cNvPr>
          <p:cNvSpPr>
            <a:spLocks noGrp="1"/>
          </p:cNvSpPr>
          <p:nvPr/>
        </p:nvSpPr>
        <p:spPr>
          <a:xfrm>
            <a:off x="609600" y="4000500"/>
            <a:ext cx="2524125" cy="885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725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Extract cancellation.</a:t>
            </a:r>
          </a:p>
          <a:p>
            <a:pPr algn="ctr">
              <a:buNone/>
              <a:defRPr sz="1725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Load the current case.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2399F1-CE7D-486B-81CD-0B4E17818A02}"/>
              </a:ext>
            </a:extLst>
          </p:cNvPr>
          <p:cNvSpPr>
            <a:spLocks noGrp="1"/>
          </p:cNvSpPr>
          <p:nvPr/>
        </p:nvSpPr>
        <p:spPr>
          <a:xfrm>
            <a:off x="3429000" y="2895600"/>
            <a:ext cx="2514600" cy="866775"/>
          </a:xfrm>
          <a:prstGeom prst="rect">
            <a:avLst/>
          </a:prstGeom>
          <a:solidFill>
            <a:srgbClr val="EDDCCD"/>
          </a:solidFill>
          <a:ln w="11430">
            <a:solidFill>
              <a:srgbClr val="D9C7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Plan &amp; decide">
            <a:extLst>
              <a:ext uri="{FF2B5EF4-FFF2-40B4-BE49-F238E27FC236}">
                <a16:creationId xmlns:a16="http://schemas.microsoft.com/office/drawing/2014/main" id="{6EFD26C4-5D2F-4D24-A8D4-0125E57C7320}"/>
              </a:ext>
            </a:extLst>
          </p:cNvPr>
          <p:cNvSpPr>
            <a:spLocks noGrp="1"/>
          </p:cNvSpPr>
          <p:nvPr/>
        </p:nvSpPr>
        <p:spPr>
          <a:xfrm>
            <a:off x="3581400" y="3124200"/>
            <a:ext cx="2209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875" b="1" i="0">
                <a:solidFill>
                  <a:srgbClr val="352B26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875" b="1" i="0">
                <a:solidFill>
                  <a:srgbClr val="352B26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352B26"/>
                </a:solidFill>
                <a:latin typeface="Arial"/>
                <a:ea typeface="Arial"/>
                <a:cs typeface="Arial"/>
              </a:rPr>
              <a:t>Choose next check</a:t>
            </a:r>
          </a:p>
        </p:txBody>
      </p:sp>
      <p:sp>
        <p:nvSpPr>
          <p:cNvPr id="12" name="[Reasoning and next-step choice]">
            <a:extLst>
              <a:ext uri="{FF2B5EF4-FFF2-40B4-BE49-F238E27FC236}">
                <a16:creationId xmlns:a16="http://schemas.microsoft.com/office/drawing/2014/main" id="{AC8F149F-C67F-4BC1-BF1C-20355B0DF3E8}"/>
              </a:ext>
            </a:extLst>
          </p:cNvPr>
          <p:cNvSpPr>
            <a:spLocks noGrp="1"/>
          </p:cNvSpPr>
          <p:nvPr/>
        </p:nvSpPr>
        <p:spPr>
          <a:xfrm>
            <a:off x="3429000" y="4000500"/>
            <a:ext cx="2524125" cy="885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725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Query missing facts.</a:t>
            </a:r>
          </a:p>
          <a:p>
            <a:pPr algn="ctr">
              <a:buNone/>
              <a:defRPr sz="1725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Revise invalid options.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A221C0-D73D-42BF-AB5D-FD4233AF8E5C}"/>
              </a:ext>
            </a:extLst>
          </p:cNvPr>
          <p:cNvSpPr>
            <a:spLocks noGrp="1"/>
          </p:cNvSpPr>
          <p:nvPr/>
        </p:nvSpPr>
        <p:spPr>
          <a:xfrm>
            <a:off x="6248400" y="2895600"/>
            <a:ext cx="2514600" cy="866775"/>
          </a:xfrm>
          <a:prstGeom prst="rect">
            <a:avLst/>
          </a:prstGeom>
          <a:solidFill>
            <a:srgbClr val="493A31"/>
          </a:solidFill>
          <a:ln w="11430">
            <a:solidFill>
              <a:srgbClr val="D9C7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Use tools">
            <a:extLst>
              <a:ext uri="{FF2B5EF4-FFF2-40B4-BE49-F238E27FC236}">
                <a16:creationId xmlns:a16="http://schemas.microsoft.com/office/drawing/2014/main" id="{6619C2F4-12A4-459F-A650-920772FFCA53}"/>
              </a:ext>
            </a:extLst>
          </p:cNvPr>
          <p:cNvSpPr>
            <a:spLocks noGrp="1"/>
          </p:cNvSpPr>
          <p:nvPr/>
        </p:nvSpPr>
        <p:spPr>
          <a:xfrm>
            <a:off x="6400800" y="3124200"/>
            <a:ext cx="2209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Reserve &amp; book</a:t>
            </a:r>
          </a:p>
        </p:txBody>
      </p:sp>
      <p:sp>
        <p:nvSpPr>
          <p:cNvPr id="15" name="[Tool/API and action taken]">
            <a:extLst>
              <a:ext uri="{FF2B5EF4-FFF2-40B4-BE49-F238E27FC236}">
                <a16:creationId xmlns:a16="http://schemas.microsoft.com/office/drawing/2014/main" id="{F9B516EF-2C60-4261-8769-3788B934ACE1}"/>
              </a:ext>
            </a:extLst>
          </p:cNvPr>
          <p:cNvSpPr>
            <a:spLocks noGrp="1"/>
          </p:cNvSpPr>
          <p:nvPr/>
        </p:nvSpPr>
        <p:spPr>
          <a:xfrm>
            <a:off x="6248400" y="4000500"/>
            <a:ext cx="2524125" cy="885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725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Validate and hold.</a:t>
            </a:r>
          </a:p>
          <a:p>
            <a:pPr algn="ctr">
              <a:buNone/>
              <a:defRPr sz="1725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Book after approval.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860A0CA-2BE8-4D13-A0BD-8E6EDA38CABE}"/>
              </a:ext>
            </a:extLst>
          </p:cNvPr>
          <p:cNvSpPr>
            <a:spLocks noGrp="1"/>
          </p:cNvSpPr>
          <p:nvPr/>
        </p:nvSpPr>
        <p:spPr>
          <a:xfrm>
            <a:off x="9067800" y="2895600"/>
            <a:ext cx="2514600" cy="866775"/>
          </a:xfrm>
          <a:prstGeom prst="rect">
            <a:avLst/>
          </a:prstGeom>
          <a:solidFill>
            <a:srgbClr val="EDDCCD"/>
          </a:solidFill>
          <a:ln w="11430">
            <a:solidFill>
              <a:srgbClr val="D9C7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Check &amp; adapt">
            <a:extLst>
              <a:ext uri="{FF2B5EF4-FFF2-40B4-BE49-F238E27FC236}">
                <a16:creationId xmlns:a16="http://schemas.microsoft.com/office/drawing/2014/main" id="{B375E534-9CF2-4F62-AE22-A4E3FA30AC5A}"/>
              </a:ext>
            </a:extLst>
          </p:cNvPr>
          <p:cNvSpPr>
            <a:spLocks noGrp="1"/>
          </p:cNvSpPr>
          <p:nvPr/>
        </p:nvSpPr>
        <p:spPr>
          <a:xfrm>
            <a:off x="9220200" y="3124200"/>
            <a:ext cx="2209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875" b="1" i="0">
                <a:solidFill>
                  <a:srgbClr val="352B26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875" b="1" i="0">
                <a:solidFill>
                  <a:srgbClr val="352B26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352B26"/>
                </a:solidFill>
                <a:latin typeface="Arial"/>
                <a:ea typeface="Arial"/>
                <a:cs typeface="Arial"/>
              </a:rPr>
              <a:t>Verify result</a:t>
            </a:r>
          </a:p>
        </p:txBody>
      </p:sp>
      <p:sp>
        <p:nvSpPr>
          <p:cNvPr id="18" name="[Success check and next action]">
            <a:extLst>
              <a:ext uri="{FF2B5EF4-FFF2-40B4-BE49-F238E27FC236}">
                <a16:creationId xmlns:a16="http://schemas.microsoft.com/office/drawing/2014/main" id="{13564905-7C85-4D73-A35D-97D7529B3AAD}"/>
              </a:ext>
            </a:extLst>
          </p:cNvPr>
          <p:cNvSpPr>
            <a:spLocks noGrp="1"/>
          </p:cNvSpPr>
          <p:nvPr/>
        </p:nvSpPr>
        <p:spPr>
          <a:xfrm>
            <a:off x="9067800" y="4000500"/>
            <a:ext cx="2524125" cy="885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725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Check both replies.</a:t>
            </a:r>
          </a:p>
          <a:p>
            <a:pPr algn="ctr">
              <a:buNone/>
              <a:defRPr sz="1725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Release failed holds.</a:t>
            </a:r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E418E7EE-C731-46A8-8CD8-DF400F557C82}"/>
              </a:ext>
            </a:extLst>
          </p:cNvPr>
          <p:cNvSpPr>
            <a:spLocks noGrp="1"/>
          </p:cNvSpPr>
          <p:nvPr/>
        </p:nvSpPr>
        <p:spPr>
          <a:xfrm>
            <a:off x="609600" y="5153025"/>
            <a:ext cx="10972800" cy="0"/>
          </a:xfrm>
          <a:prstGeom prst="line">
            <a:avLst/>
          </a:prstGeom>
          <a:noFill/>
          <a:ln w="11430">
            <a:solidFill>
              <a:srgbClr val="D9C7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HUMAN CONTROL &amp; STOP RULES">
            <a:extLst>
              <a:ext uri="{FF2B5EF4-FFF2-40B4-BE49-F238E27FC236}">
                <a16:creationId xmlns:a16="http://schemas.microsoft.com/office/drawing/2014/main" id="{33E7A739-80DC-4410-B4E9-3FDAD4B00486}"/>
              </a:ext>
            </a:extLst>
          </p:cNvPr>
          <p:cNvSpPr>
            <a:spLocks noGrp="1"/>
          </p:cNvSpPr>
          <p:nvPr/>
        </p:nvSpPr>
        <p:spPr>
          <a:xfrm>
            <a:off x="609600" y="5372100"/>
            <a:ext cx="3952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350" b="1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HUMAN CONTROL &amp; STOP RULES</a:t>
            </a:r>
          </a:p>
        </p:txBody>
      </p:sp>
      <p:sp>
        <p:nvSpPr>
          <p:cNvPr id="24" name="[When does the agent request approval, retry, stop, or hand control back?]">
            <a:extLst>
              <a:ext uri="{FF2B5EF4-FFF2-40B4-BE49-F238E27FC236}">
                <a16:creationId xmlns:a16="http://schemas.microsoft.com/office/drawing/2014/main" id="{31C88F24-0033-42D6-974E-C217D9BC92DF}"/>
              </a:ext>
            </a:extLst>
          </p:cNvPr>
          <p:cNvSpPr>
            <a:spLocks noGrp="1"/>
          </p:cNvSpPr>
          <p:nvPr/>
        </p:nvSpPr>
        <p:spPr>
          <a:xfrm>
            <a:off x="4743450" y="5314950"/>
            <a:ext cx="681037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875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Approval applies to one plan version. Revisions need fresh approval.</a:t>
            </a:r>
          </a:p>
          <a:p>
            <a:pPr algn="l">
              <a:buNone/>
              <a:defRPr sz="1875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Missing evidence or no feasible option: stop and escalate.</a:t>
            </a:r>
          </a:p>
        </p:txBody>
      </p:sp>
      <p:sp>
        <p:nvSpPr>
          <p:cNvPr id="26" name="state-memory">
            <a:extLst>
              <a:ext uri="{FF2B5EF4-FFF2-40B4-BE49-F238E27FC236}">
                <a16:creationId xmlns:a16="http://schemas.microsoft.com/office/drawing/2014/main" id="{77064080-3E0B-4C59-AC0E-CCEDCA47CA83}"/>
              </a:ext>
            </a:extLst>
          </p:cNvPr>
          <p:cNvSpPr>
            <a:spLocks noGrp="1"/>
          </p:cNvSpPr>
          <p:nvPr/>
        </p:nvSpPr>
        <p:spPr>
          <a:xfrm>
            <a:off x="609600" y="2581275"/>
            <a:ext cx="109728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350" b="0">
                <a:solidFill>
                  <a:srgbClr val="796456"/>
                </a:solidFill>
              </a:defRPr>
            </a:defPPr>
          </a:lstStyle>
          <a:p>
            <a:pPr>
              <a:buNone/>
              <a:defRPr sz="1350" b="0">
                <a:solidFill>
                  <a:srgbClr val="796456"/>
                </a:solidFill>
              </a:defRPr>
            </a:pPr>
            <a:r>
              <a:rPr sz="1350" b="0">
                <a:solidFill>
                  <a:srgbClr val="796456"/>
                </a:solidFill>
              </a:rPr>
              <a:t>Persist case versions, evidence and tool results across retries.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6BDB86A-DC60-4E64-8F39-CBCC4A8323EE}"/>
              </a:ext>
            </a:extLst>
          </p:cNvPr>
          <p:cNvCxnSpPr/>
          <p:nvPr/>
        </p:nvCxnSpPr>
        <p:spPr>
          <a:xfrm>
            <a:off x="4686300" y="4695825"/>
            <a:ext cx="5638800" cy="0"/>
          </a:xfrm>
          <a:prstGeom prst="straightConnector1">
            <a:avLst/>
          </a:prstGeom>
          <a:ln w="14288">
            <a:solidFill>
              <a:srgbClr val="8C4F32"/>
            </a:solidFill>
            <a:prstDash val="solid"/>
            <a:headEnd type="arrow" w="med" len="med"/>
          </a:ln>
        </p:spPr>
      </p:cxnSp>
      <p:sp>
        <p:nvSpPr>
          <p:cNvPr id="28" name="replan-feedback">
            <a:extLst>
              <a:ext uri="{FF2B5EF4-FFF2-40B4-BE49-F238E27FC236}">
                <a16:creationId xmlns:a16="http://schemas.microsoft.com/office/drawing/2014/main" id="{CCAA33F9-7BAE-4E8C-88C7-41A453DD87BD}"/>
              </a:ext>
            </a:extLst>
          </p:cNvPr>
          <p:cNvSpPr>
            <a:spLocks noGrp="1"/>
          </p:cNvSpPr>
          <p:nvPr/>
        </p:nvSpPr>
        <p:spPr>
          <a:xfrm>
            <a:off x="3429000" y="485775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75" b="0">
                <a:solidFill>
                  <a:srgbClr val="8C4F32"/>
                </a:solidFill>
              </a:defRPr>
            </a:defPPr>
          </a:lstStyle>
          <a:p>
            <a:pPr>
              <a:buNone/>
              <a:defRPr sz="1275" b="0">
                <a:solidFill>
                  <a:srgbClr val="8C4F32"/>
                </a:solidFill>
              </a:defRPr>
            </a:pPr>
            <a:r>
              <a:rPr sz="1275" b="0">
                <a:solidFill>
                  <a:srgbClr val="8C4F32"/>
                </a:solidFill>
              </a:rPr>
              <a:t>Rejection or stale capacity triggers another check with the recorded failure reason.</a:t>
            </a:r>
          </a:p>
        </p:txBody>
      </p:sp>
    </p:spTree>
    <p:extLst>
      <p:ext uri="{BB962C8B-B14F-4D97-AF65-F5344CB8AC3E}">
        <p14:creationId xmlns:p14="http://schemas.microsoft.com/office/powerpoint/2010/main" val="20958358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04 / TECHNICAL APPROACH">
            <a:extLst>
              <a:ext uri="{FF2B5EF4-FFF2-40B4-BE49-F238E27FC236}">
                <a16:creationId xmlns:a16="http://schemas.microsoft.com/office/drawing/2014/main" id="{EA97A39E-8EF7-4A19-86E4-E506B7B6D263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350" b="1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04 / TECHNICAL APPROACH</a:t>
            </a:r>
          </a:p>
        </p:txBody>
      </p:sp>
      <p:sp>
        <p:nvSpPr>
          <p:cNvPr id="2" name="Technology &amp; data">
            <a:extLst>
              <a:ext uri="{FF2B5EF4-FFF2-40B4-BE49-F238E27FC236}">
                <a16:creationId xmlns:a16="http://schemas.microsoft.com/office/drawing/2014/main" id="{BC7DBB7E-95B9-420B-B36A-3112B42A83E1}"/>
              </a:ext>
            </a:extLst>
          </p:cNvPr>
          <p:cNvSpPr>
            <a:spLocks noGrp="1"/>
          </p:cNvSpPr>
          <p:nvPr/>
        </p:nvSpPr>
        <p:spPr>
          <a:xfrm>
            <a:off x="609600" y="866775"/>
            <a:ext cx="10972800" cy="752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600" b="1" i="0">
                <a:solidFill>
                  <a:srgbClr val="352B26"/>
                </a:solidFill>
                <a:latin typeface="Arial Black"/>
                <a:ea typeface="Arial Black"/>
                <a:cs typeface="Arial Black"/>
              </a:defRPr>
            </a:defPPr>
          </a:lstStyle>
          <a:p>
            <a:pPr algn="l">
              <a:buNone/>
              <a:defRPr sz="3600" b="1" i="0">
                <a:solidFill>
                  <a:srgbClr val="352B26"/>
                </a:solidFill>
                <a:latin typeface="Arial Black"/>
                <a:ea typeface="Arial Black"/>
                <a:cs typeface="Arial Black"/>
              </a:defRPr>
            </a:pPr>
            <a:r>
              <a:rPr sz="3600" b="1" i="0">
                <a:solidFill>
                  <a:srgbClr val="352B26"/>
                </a:solidFill>
                <a:latin typeface="Arial Black"/>
                <a:ea typeface="Arial Black"/>
                <a:cs typeface="Arial Black"/>
              </a:rPr>
              <a:t>A small Python stack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D6E094D0-5C05-429E-BB80-EAB096700F4E}"/>
              </a:ext>
            </a:extLst>
          </p:cNvPr>
          <p:cNvSpPr>
            <a:spLocks noGrp="1"/>
          </p:cNvSpPr>
          <p:nvPr/>
        </p:nvSpPr>
        <p:spPr>
          <a:xfrm>
            <a:off x="609600" y="6334125"/>
            <a:ext cx="10972800" cy="0"/>
          </a:xfrm>
          <a:prstGeom prst="line">
            <a:avLst/>
          </a:prstGeom>
          <a:noFill/>
          <a:ln w="11430">
            <a:solidFill>
              <a:srgbClr val="D9C7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AgentOps 2026  /  Idea proposal">
            <a:extLst>
              <a:ext uri="{FF2B5EF4-FFF2-40B4-BE49-F238E27FC236}">
                <a16:creationId xmlns:a16="http://schemas.microsoft.com/office/drawing/2014/main" id="{E427ED28-3275-41BC-96BE-91E1BBA3B141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125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AgentOps 2026  /  Idea proposal</a:t>
            </a:r>
          </a:p>
        </p:txBody>
      </p:sp>
      <p:sp>
        <p:nvSpPr>
          <p:cNvPr id="5" name="05">
            <a:extLst>
              <a:ext uri="{FF2B5EF4-FFF2-40B4-BE49-F238E27FC236}">
                <a16:creationId xmlns:a16="http://schemas.microsoft.com/office/drawing/2014/main" id="{1AFF442B-696F-4C37-A81E-7796DC2443F0}"/>
              </a:ext>
            </a:extLst>
          </p:cNvPr>
          <p:cNvSpPr>
            <a:spLocks noGrp="1"/>
          </p:cNvSpPr>
          <p:nvPr/>
        </p:nvSpPr>
        <p:spPr>
          <a:xfrm>
            <a:off x="10801350" y="6438900"/>
            <a:ext cx="781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1275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DATA &amp; INPUTS">
            <a:extLst>
              <a:ext uri="{FF2B5EF4-FFF2-40B4-BE49-F238E27FC236}">
                <a16:creationId xmlns:a16="http://schemas.microsoft.com/office/drawing/2014/main" id="{9213F0FC-2D61-43B2-A7A7-2471AB111D4E}"/>
              </a:ext>
            </a:extLst>
          </p:cNvPr>
          <p:cNvSpPr>
            <a:spLocks noGrp="1"/>
          </p:cNvSpPr>
          <p:nvPr/>
        </p:nvSpPr>
        <p:spPr>
          <a:xfrm>
            <a:off x="609600" y="2066925"/>
            <a:ext cx="49244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350" b="1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DATA &amp; INPUTS</a:t>
            </a:r>
          </a:p>
        </p:txBody>
      </p:sp>
      <p:sp>
        <p:nvSpPr>
          <p:cNvPr id="7" name="[Sources, format, access rights, and any retrieval method]">
            <a:extLst>
              <a:ext uri="{FF2B5EF4-FFF2-40B4-BE49-F238E27FC236}">
                <a16:creationId xmlns:a16="http://schemas.microsoft.com/office/drawing/2014/main" id="{C6328917-0BE2-4D67-BFAC-676A65E95EE3}"/>
              </a:ext>
            </a:extLst>
          </p:cNvPr>
          <p:cNvSpPr>
            <a:spLocks noGrp="1"/>
          </p:cNvSpPr>
          <p:nvPr/>
        </p:nvSpPr>
        <p:spPr>
          <a:xfrm>
            <a:off x="609600" y="2447925"/>
            <a:ext cx="4924425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875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Synthetic JSON and fixed travel times.</a:t>
            </a:r>
          </a:p>
          <a:p>
            <a:pPr algn="l">
              <a:buNone/>
              <a:defRPr sz="1875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SQLite tracks case versions and bookings.</a:t>
            </a:r>
          </a:p>
          <a:p>
            <a:pPr algn="l">
              <a:buNone/>
              <a:defRPr sz="1875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No personal recipient data.</a:t>
            </a:r>
          </a:p>
        </p:txBody>
      </p:sp>
      <p:sp>
        <p:nvSpPr>
          <p:cNvPr id="8" name="MODELS &amp; ORCHESTRATION">
            <a:extLst>
              <a:ext uri="{FF2B5EF4-FFF2-40B4-BE49-F238E27FC236}">
                <a16:creationId xmlns:a16="http://schemas.microsoft.com/office/drawing/2014/main" id="{4E61C88D-91CF-4747-A73C-2F83F03CC45D}"/>
              </a:ext>
            </a:extLst>
          </p:cNvPr>
          <p:cNvSpPr>
            <a:spLocks noGrp="1"/>
          </p:cNvSpPr>
          <p:nvPr/>
        </p:nvSpPr>
        <p:spPr>
          <a:xfrm>
            <a:off x="6524625" y="2066925"/>
            <a:ext cx="49244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350" b="1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MODELS &amp; ORCHESTRATION</a:t>
            </a:r>
          </a:p>
        </p:txBody>
      </p:sp>
      <p:sp>
        <p:nvSpPr>
          <p:cNvPr id="9" name="[Model, agent framework, and coordination approach]">
            <a:extLst>
              <a:ext uri="{FF2B5EF4-FFF2-40B4-BE49-F238E27FC236}">
                <a16:creationId xmlns:a16="http://schemas.microsoft.com/office/drawing/2014/main" id="{9E07A4C6-1618-4EE9-872F-FAEC03849F0B}"/>
              </a:ext>
            </a:extLst>
          </p:cNvPr>
          <p:cNvSpPr>
            <a:spLocks noGrp="1"/>
          </p:cNvSpPr>
          <p:nvPr/>
        </p:nvSpPr>
        <p:spPr>
          <a:xfrm>
            <a:off x="6524625" y="2447925"/>
            <a:ext cx="4924425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875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One tool-capable LLM via provider SDK.</a:t>
            </a:r>
          </a:p>
          <a:p>
            <a:pPr algn="l">
              <a:buNone/>
              <a:defRPr sz="1875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Python loop with a tool-call limit.</a:t>
            </a:r>
          </a:p>
          <a:p>
            <a:pPr algn="l">
              <a:buNone/>
              <a:defRPr sz="1875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Pydantic schemas and a Streamlit UI.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399116B5-5FFD-4F41-BE6C-5D0C729F2333}"/>
              </a:ext>
            </a:extLst>
          </p:cNvPr>
          <p:cNvSpPr>
            <a:spLocks noGrp="1"/>
          </p:cNvSpPr>
          <p:nvPr/>
        </p:nvSpPr>
        <p:spPr>
          <a:xfrm>
            <a:off x="609600" y="3895725"/>
            <a:ext cx="10972800" cy="0"/>
          </a:xfrm>
          <a:prstGeom prst="line">
            <a:avLst/>
          </a:prstGeom>
          <a:noFill/>
          <a:ln w="11430">
            <a:solidFill>
              <a:srgbClr val="D9C7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OOLS &amp; INTEGRATIONS">
            <a:extLst>
              <a:ext uri="{FF2B5EF4-FFF2-40B4-BE49-F238E27FC236}">
                <a16:creationId xmlns:a16="http://schemas.microsoft.com/office/drawing/2014/main" id="{28B34F40-EB04-4F19-9B9D-19A753CE06B9}"/>
              </a:ext>
            </a:extLst>
          </p:cNvPr>
          <p:cNvSpPr>
            <a:spLocks noGrp="1"/>
          </p:cNvSpPr>
          <p:nvPr/>
        </p:nvSpPr>
        <p:spPr>
          <a:xfrm>
            <a:off x="609600" y="4098859"/>
            <a:ext cx="49244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350" b="1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TOOLS &amp; INTEGRATIONS</a:t>
            </a:r>
          </a:p>
        </p:txBody>
      </p:sp>
      <p:sp>
        <p:nvSpPr>
          <p:cNvPr id="12" name="[APIs or systems the agent uses, with the actions they enable]">
            <a:extLst>
              <a:ext uri="{FF2B5EF4-FFF2-40B4-BE49-F238E27FC236}">
                <a16:creationId xmlns:a16="http://schemas.microsoft.com/office/drawing/2014/main" id="{1F9765A9-C65E-4D7B-A45F-6CC7E9726EE3}"/>
              </a:ext>
            </a:extLst>
          </p:cNvPr>
          <p:cNvSpPr>
            <a:spLocks noGrp="1"/>
          </p:cNvSpPr>
          <p:nvPr/>
        </p:nvSpPr>
        <p:spPr>
          <a:xfrm>
            <a:off x="609600" y="4638675"/>
            <a:ext cx="4924425" cy="1133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875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Read availability and validate constraints.</a:t>
            </a:r>
          </a:p>
          <a:p>
            <a:pPr algn="l">
              <a:buNone/>
              <a:defRPr sz="1875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Hold capacity and book an approved plan.</a:t>
            </a:r>
          </a:p>
          <a:p>
            <a:pPr algn="l">
              <a:buNone/>
              <a:defRPr sz="1875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Read replies and release failed holds.</a:t>
            </a:r>
          </a:p>
        </p:txBody>
      </p:sp>
      <p:sp>
        <p:nvSpPr>
          <p:cNvPr id="13" name="DEPENDENCIES &amp; LIMITS">
            <a:extLst>
              <a:ext uri="{FF2B5EF4-FFF2-40B4-BE49-F238E27FC236}">
                <a16:creationId xmlns:a16="http://schemas.microsoft.com/office/drawing/2014/main" id="{09B86920-C153-41C9-A417-348AB64D6388}"/>
              </a:ext>
            </a:extLst>
          </p:cNvPr>
          <p:cNvSpPr>
            <a:spLocks noGrp="1"/>
          </p:cNvSpPr>
          <p:nvPr/>
        </p:nvSpPr>
        <p:spPr>
          <a:xfrm>
            <a:off x="6524625" y="4076700"/>
            <a:ext cx="49244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350" b="1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DEPENDENCIES &amp; LIMITS</a:t>
            </a:r>
          </a:p>
        </p:txBody>
      </p:sp>
      <p:sp>
        <p:nvSpPr>
          <p:cNvPr id="14" name="[Access, costs, quotas, latency, or assumptions to validate]">
            <a:extLst>
              <a:ext uri="{FF2B5EF4-FFF2-40B4-BE49-F238E27FC236}">
                <a16:creationId xmlns:a16="http://schemas.microsoft.com/office/drawing/2014/main" id="{AC276858-7D83-4F45-ABC6-44AFF0EC183E}"/>
              </a:ext>
            </a:extLst>
          </p:cNvPr>
          <p:cNvSpPr>
            <a:spLocks noGrp="1"/>
          </p:cNvSpPr>
          <p:nvPr/>
        </p:nvSpPr>
        <p:spPr>
          <a:xfrm>
            <a:off x="6524625" y="4457701"/>
            <a:ext cx="4924425" cy="16732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875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Python checks capacity and time windows.</a:t>
            </a:r>
          </a:p>
          <a:p>
            <a:pPr algn="l">
              <a:buNone/>
              <a:defRPr sz="1875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Unique booking keys block repeat writes.</a:t>
            </a:r>
          </a:p>
          <a:p>
            <a:pPr>
              <a:buNone/>
              <a:defRPr sz="1875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796456"/>
                </a:solidFill>
                <a:latin typeface="Arial"/>
                <a:ea typeface="Arial"/>
                <a:cs typeface="Arial"/>
              </a:rPr>
              <a:t>Model timeout: stop for manual review.</a:t>
            </a:r>
          </a:p>
          <a:p>
            <a:pPr>
              <a:buNone/>
              <a:defRPr sz="1875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796456"/>
                </a:solidFill>
                <a:latin typeface="Arial"/>
                <a:ea typeface="Arial"/>
                <a:cs typeface="Arial"/>
              </a:rPr>
              <a:t>Model access and quotas remain to verify.</a:t>
            </a:r>
          </a:p>
        </p:txBody>
      </p:sp>
    </p:spTree>
    <p:extLst>
      <p:ext uri="{BB962C8B-B14F-4D97-AF65-F5344CB8AC3E}">
        <p14:creationId xmlns:p14="http://schemas.microsoft.com/office/powerpoint/2010/main" val="4377398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05 / INNOVATION &amp; TRACK FIT">
            <a:extLst>
              <a:ext uri="{FF2B5EF4-FFF2-40B4-BE49-F238E27FC236}">
                <a16:creationId xmlns:a16="http://schemas.microsoft.com/office/drawing/2014/main" id="{F994A477-D21C-4586-9A8A-FD883ED67C18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350" b="1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05 / INNOVATION &amp; TRACK FIT</a:t>
            </a:r>
          </a:p>
        </p:txBody>
      </p:sp>
      <p:sp>
        <p:nvSpPr>
          <p:cNvPr id="2" name="What makes it different">
            <a:extLst>
              <a:ext uri="{FF2B5EF4-FFF2-40B4-BE49-F238E27FC236}">
                <a16:creationId xmlns:a16="http://schemas.microsoft.com/office/drawing/2014/main" id="{85C76857-D400-45FC-8D81-366D10D6E911}"/>
              </a:ext>
            </a:extLst>
          </p:cNvPr>
          <p:cNvSpPr>
            <a:spLocks noGrp="1"/>
          </p:cNvSpPr>
          <p:nvPr/>
        </p:nvSpPr>
        <p:spPr>
          <a:xfrm>
            <a:off x="609600" y="866775"/>
            <a:ext cx="10972800" cy="752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600" b="1" i="0">
                <a:solidFill>
                  <a:srgbClr val="352B26"/>
                </a:solidFill>
                <a:latin typeface="Arial Black"/>
                <a:ea typeface="Arial Black"/>
                <a:cs typeface="Arial Black"/>
              </a:defRPr>
            </a:defPPr>
          </a:lstStyle>
          <a:p>
            <a:pPr algn="l">
              <a:buNone/>
              <a:defRPr sz="3600" b="1" i="0">
                <a:solidFill>
                  <a:srgbClr val="352B26"/>
                </a:solidFill>
                <a:latin typeface="Arial Black"/>
                <a:ea typeface="Arial Black"/>
                <a:cs typeface="Arial Black"/>
              </a:defRPr>
            </a:pPr>
            <a:r>
              <a:rPr sz="3600" b="1" i="0">
                <a:solidFill>
                  <a:srgbClr val="352B26"/>
                </a:solidFill>
                <a:latin typeface="Arial Black"/>
                <a:ea typeface="Arial Black"/>
                <a:cs typeface="Arial Black"/>
              </a:rPr>
              <a:t>A focus on failed-pickup recovery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40969EC0-C593-4F8C-868A-E8C6F034FE10}"/>
              </a:ext>
            </a:extLst>
          </p:cNvPr>
          <p:cNvSpPr>
            <a:spLocks noGrp="1"/>
          </p:cNvSpPr>
          <p:nvPr/>
        </p:nvSpPr>
        <p:spPr>
          <a:xfrm>
            <a:off x="609600" y="6334125"/>
            <a:ext cx="10972800" cy="0"/>
          </a:xfrm>
          <a:prstGeom prst="line">
            <a:avLst/>
          </a:prstGeom>
          <a:noFill/>
          <a:ln w="11430">
            <a:solidFill>
              <a:srgbClr val="D9C7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AgentOps 2026  /  Idea proposal">
            <a:extLst>
              <a:ext uri="{FF2B5EF4-FFF2-40B4-BE49-F238E27FC236}">
                <a16:creationId xmlns:a16="http://schemas.microsoft.com/office/drawing/2014/main" id="{1D03A4F7-364D-4D12-8D0E-554FF8B2006A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125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AgentOps 2026  /  Idea proposal</a:t>
            </a:r>
          </a:p>
        </p:txBody>
      </p:sp>
      <p:sp>
        <p:nvSpPr>
          <p:cNvPr id="5" name="06">
            <a:extLst>
              <a:ext uri="{FF2B5EF4-FFF2-40B4-BE49-F238E27FC236}">
                <a16:creationId xmlns:a16="http://schemas.microsoft.com/office/drawing/2014/main" id="{E583F595-E90B-40C9-A769-3FD809C06294}"/>
              </a:ext>
            </a:extLst>
          </p:cNvPr>
          <p:cNvSpPr>
            <a:spLocks noGrp="1"/>
          </p:cNvSpPr>
          <p:nvPr/>
        </p:nvSpPr>
        <p:spPr>
          <a:xfrm>
            <a:off x="10801350" y="6438900"/>
            <a:ext cx="781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1275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CURRENT APPROACH">
            <a:extLst>
              <a:ext uri="{FF2B5EF4-FFF2-40B4-BE49-F238E27FC236}">
                <a16:creationId xmlns:a16="http://schemas.microsoft.com/office/drawing/2014/main" id="{06CF0F22-6F99-4020-95C3-DE77019B961B}"/>
              </a:ext>
            </a:extLst>
          </p:cNvPr>
          <p:cNvSpPr>
            <a:spLocks noGrp="1"/>
          </p:cNvSpPr>
          <p:nvPr/>
        </p:nvSpPr>
        <p:spPr>
          <a:xfrm>
            <a:off x="609600" y="1562780"/>
            <a:ext cx="485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350" b="1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CURRENT APPROACH</a:t>
            </a:r>
          </a:p>
        </p:txBody>
      </p:sp>
      <p:sp>
        <p:nvSpPr>
          <p:cNvPr id="7" name="YOUR APPROACH">
            <a:extLst>
              <a:ext uri="{FF2B5EF4-FFF2-40B4-BE49-F238E27FC236}">
                <a16:creationId xmlns:a16="http://schemas.microsoft.com/office/drawing/2014/main" id="{746D65E4-AB5D-4714-A072-6C8470253BE7}"/>
              </a:ext>
            </a:extLst>
          </p:cNvPr>
          <p:cNvSpPr>
            <a:spLocks noGrp="1"/>
          </p:cNvSpPr>
          <p:nvPr/>
        </p:nvSpPr>
        <p:spPr>
          <a:xfrm>
            <a:off x="6524625" y="1614487"/>
            <a:ext cx="485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350" b="1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YOUR APPROACH</a:t>
            </a:r>
          </a:p>
        </p:txBody>
      </p:sp>
      <p:sp>
        <p:nvSpPr>
          <p:cNvPr id="8" name="[Existing tool or workflow]">
            <a:extLst>
              <a:ext uri="{FF2B5EF4-FFF2-40B4-BE49-F238E27FC236}">
                <a16:creationId xmlns:a16="http://schemas.microsoft.com/office/drawing/2014/main" id="{3B37DE69-0C26-425C-907E-3DE405D63ACB}"/>
              </a:ext>
            </a:extLst>
          </p:cNvPr>
          <p:cNvSpPr>
            <a:spLocks noGrp="1"/>
          </p:cNvSpPr>
          <p:nvPr/>
        </p:nvSpPr>
        <p:spPr>
          <a:xfrm>
            <a:off x="609600" y="1933867"/>
            <a:ext cx="4857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 i="0">
                <a:solidFill>
                  <a:srgbClr val="352B2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2175" b="1" i="0">
                <a:solidFill>
                  <a:srgbClr val="352B26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352B26"/>
                </a:solidFill>
                <a:latin typeface="Arial"/>
                <a:ea typeface="Arial"/>
                <a:cs typeface="Arial"/>
              </a:rPr>
              <a:t>Food Rescue Hero</a:t>
            </a:r>
          </a:p>
          <a:p>
            <a:pPr algn="l">
              <a:buNone/>
              <a:defRPr sz="2175" b="1" i="0">
                <a:solidFill>
                  <a:srgbClr val="352B26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352B26"/>
                </a:solidFill>
                <a:latin typeface="Arial"/>
                <a:ea typeface="Arial"/>
                <a:cs typeface="Arial"/>
              </a:rPr>
              <a:t>supports rescue coordination</a:t>
            </a:r>
          </a:p>
        </p:txBody>
      </p:sp>
      <p:sp>
        <p:nvSpPr>
          <p:cNvPr id="9" name="[Your key difference]">
            <a:extLst>
              <a:ext uri="{FF2B5EF4-FFF2-40B4-BE49-F238E27FC236}">
                <a16:creationId xmlns:a16="http://schemas.microsoft.com/office/drawing/2014/main" id="{970F668B-8FA4-4126-8755-AE72CE4D4514}"/>
              </a:ext>
            </a:extLst>
          </p:cNvPr>
          <p:cNvSpPr>
            <a:spLocks noGrp="1"/>
          </p:cNvSpPr>
          <p:nvPr/>
        </p:nvSpPr>
        <p:spPr>
          <a:xfrm>
            <a:off x="6524625" y="1922300"/>
            <a:ext cx="4857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 i="0">
                <a:solidFill>
                  <a:srgbClr val="352B2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2175" b="1" i="0">
                <a:solidFill>
                  <a:srgbClr val="352B26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352B26"/>
                </a:solidFill>
                <a:latin typeface="Arial"/>
                <a:ea typeface="Arial"/>
                <a:cs typeface="Arial"/>
              </a:rPr>
              <a:t>An agent that investigates</a:t>
            </a:r>
          </a:p>
          <a:p>
            <a:pPr algn="l">
              <a:buNone/>
              <a:defRPr sz="2175" b="1" i="0">
                <a:solidFill>
                  <a:srgbClr val="352B26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352B26"/>
                </a:solidFill>
                <a:latin typeface="Arial"/>
                <a:ea typeface="Arial"/>
                <a:cs typeface="Arial"/>
              </a:rPr>
              <a:t>and revises a failed plan</a:t>
            </a:r>
          </a:p>
        </p:txBody>
      </p:sp>
      <p:sp>
        <p:nvSpPr>
          <p:cNvPr id="10" name="[Where it falls short for your target users]">
            <a:extLst>
              <a:ext uri="{FF2B5EF4-FFF2-40B4-BE49-F238E27FC236}">
                <a16:creationId xmlns:a16="http://schemas.microsoft.com/office/drawing/2014/main" id="{901686B8-4E8F-44AB-90B5-E35C9C072566}"/>
              </a:ext>
            </a:extLst>
          </p:cNvPr>
          <p:cNvSpPr>
            <a:spLocks noGrp="1"/>
          </p:cNvSpPr>
          <p:nvPr/>
        </p:nvSpPr>
        <p:spPr>
          <a:xfrm>
            <a:off x="609600" y="2704433"/>
            <a:ext cx="48577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875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Its 2023 update describes substitute</a:t>
            </a:r>
          </a:p>
          <a:p>
            <a:pPr>
              <a:buNone/>
              <a:defRPr sz="1875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796456"/>
                </a:solidFill>
                <a:latin typeface="Arial"/>
                <a:ea typeface="Arial"/>
                <a:cs typeface="Arial"/>
              </a:rPr>
              <a:t>notifications, cancellation tracking</a:t>
            </a:r>
            <a:endParaRPr sz="1875" b="0" i="0">
              <a:solidFill>
                <a:srgbClr val="796456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1875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796456"/>
                </a:solidFill>
                <a:latin typeface="Arial"/>
                <a:ea typeface="Arial"/>
                <a:cs typeface="Arial"/>
              </a:rPr>
              <a:t>and recipient maps.</a:t>
            </a:r>
            <a:endParaRPr sz="1875" b="0" i="0">
              <a:solidFill>
                <a:srgbClr val="796456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1875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796456"/>
                </a:solidFill>
                <a:latin typeface="Arial"/>
                <a:ea typeface="Arial"/>
                <a:cs typeface="Arial"/>
              </a:rPr>
              <a:t>The coordination problem is real.</a:t>
            </a:r>
            <a:endParaRPr sz="1875" b="0" i="0">
              <a:solidFill>
                <a:srgbClr val="79645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[How the difference creates a practical benefit]">
            <a:extLst>
              <a:ext uri="{FF2B5EF4-FFF2-40B4-BE49-F238E27FC236}">
                <a16:creationId xmlns:a16="http://schemas.microsoft.com/office/drawing/2014/main" id="{10277624-3DAA-445D-83C7-EA9ED1528399}"/>
              </a:ext>
            </a:extLst>
          </p:cNvPr>
          <p:cNvSpPr>
            <a:spLocks noGrp="1"/>
          </p:cNvSpPr>
          <p:nvPr/>
        </p:nvSpPr>
        <p:spPr>
          <a:xfrm>
            <a:off x="6524625" y="2803398"/>
            <a:ext cx="48577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875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A matcher ranks known options. ReRoute</a:t>
            </a:r>
          </a:p>
          <a:p>
            <a:pPr algn="l">
              <a:buNone/>
              <a:defRPr sz="1875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chooses missing-data checks, adapts to</a:t>
            </a:r>
          </a:p>
          <a:p>
            <a:pPr algn="l">
              <a:buNone/>
              <a:defRPr sz="1875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rejections and verifies the final booking.</a:t>
            </a:r>
          </a:p>
          <a:p>
            <a:pPr algn="l">
              <a:buNone/>
              <a:defRPr sz="1875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No claim of competitor exclusivity.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3C79F5B8-8899-467E-A4CC-51F079D728DC}"/>
              </a:ext>
            </a:extLst>
          </p:cNvPr>
          <p:cNvSpPr>
            <a:spLocks noGrp="1"/>
          </p:cNvSpPr>
          <p:nvPr/>
        </p:nvSpPr>
        <p:spPr>
          <a:xfrm>
            <a:off x="609600" y="4829175"/>
            <a:ext cx="10972800" cy="0"/>
          </a:xfrm>
          <a:prstGeom prst="line">
            <a:avLst/>
          </a:prstGeom>
          <a:noFill/>
          <a:ln w="11430">
            <a:solidFill>
              <a:srgbClr val="D9C7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RACK &amp; RELEVANCE">
            <a:extLst>
              <a:ext uri="{FF2B5EF4-FFF2-40B4-BE49-F238E27FC236}">
                <a16:creationId xmlns:a16="http://schemas.microsoft.com/office/drawing/2014/main" id="{524F2436-0B3B-45C8-ACE5-2D14EE29BA0F}"/>
              </a:ext>
            </a:extLst>
          </p:cNvPr>
          <p:cNvSpPr>
            <a:spLocks noGrp="1"/>
          </p:cNvSpPr>
          <p:nvPr/>
        </p:nvSpPr>
        <p:spPr>
          <a:xfrm>
            <a:off x="609600" y="5086350"/>
            <a:ext cx="278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350" b="1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TRACK &amp; RELEVANCE</a:t>
            </a:r>
          </a:p>
        </p:txBody>
      </p:sp>
      <p:sp>
        <p:nvSpPr>
          <p:cNvPr id="14" name="[Selected track] — [Explain why your idea fits]">
            <a:extLst>
              <a:ext uri="{FF2B5EF4-FFF2-40B4-BE49-F238E27FC236}">
                <a16:creationId xmlns:a16="http://schemas.microsoft.com/office/drawing/2014/main" id="{DE860B73-699E-4A36-923B-F2D3F7D4D3AE}"/>
              </a:ext>
            </a:extLst>
          </p:cNvPr>
          <p:cNvSpPr>
            <a:spLocks noGrp="1"/>
          </p:cNvSpPr>
          <p:nvPr/>
        </p:nvSpPr>
        <p:spPr>
          <a:xfrm>
            <a:off x="3762375" y="5048250"/>
            <a:ext cx="7572375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875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Agents for sustainable development</a:t>
            </a:r>
          </a:p>
          <a:p>
            <a:pPr algn="l">
              <a:buNone/>
              <a:defRPr sz="1875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Intended impact: fewer missed rescues. Field benefit remains to test.</a:t>
            </a:r>
          </a:p>
        </p:txBody>
      </p:sp>
    </p:spTree>
    <p:extLst>
      <p:ext uri="{BB962C8B-B14F-4D97-AF65-F5344CB8AC3E}">
        <p14:creationId xmlns:p14="http://schemas.microsoft.com/office/powerpoint/2010/main" val="2951165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06 / FEASIBILITY &amp; DELIVERY">
            <a:extLst>
              <a:ext uri="{FF2B5EF4-FFF2-40B4-BE49-F238E27FC236}">
                <a16:creationId xmlns:a16="http://schemas.microsoft.com/office/drawing/2014/main" id="{64231921-F52A-410A-8A38-83038BB1B750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350" b="1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06 / FEASIBILITY &amp; DELIVERY</a:t>
            </a:r>
          </a:p>
        </p:txBody>
      </p:sp>
      <p:sp>
        <p:nvSpPr>
          <p:cNvPr id="2" name="What you will build">
            <a:extLst>
              <a:ext uri="{FF2B5EF4-FFF2-40B4-BE49-F238E27FC236}">
                <a16:creationId xmlns:a16="http://schemas.microsoft.com/office/drawing/2014/main" id="{7BF4EE3A-5579-402B-BAC1-A76DF9786FF7}"/>
              </a:ext>
            </a:extLst>
          </p:cNvPr>
          <p:cNvSpPr>
            <a:spLocks noGrp="1"/>
          </p:cNvSpPr>
          <p:nvPr/>
        </p:nvSpPr>
        <p:spPr>
          <a:xfrm>
            <a:off x="609600" y="866775"/>
            <a:ext cx="10972800" cy="752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600" b="1" i="0">
                <a:solidFill>
                  <a:srgbClr val="352B26"/>
                </a:solidFill>
                <a:latin typeface="Arial Black"/>
                <a:ea typeface="Arial Black"/>
                <a:cs typeface="Arial Black"/>
              </a:defRPr>
            </a:defPPr>
          </a:lstStyle>
          <a:p>
            <a:pPr algn="l">
              <a:buNone/>
              <a:defRPr sz="3600" b="1" i="0">
                <a:solidFill>
                  <a:srgbClr val="352B26"/>
                </a:solidFill>
                <a:latin typeface="Arial Black"/>
                <a:ea typeface="Arial Black"/>
                <a:cs typeface="Arial Black"/>
              </a:defRPr>
            </a:pPr>
            <a:r>
              <a:rPr sz="3600" b="1" i="0">
                <a:solidFill>
                  <a:srgbClr val="352B26"/>
                </a:solidFill>
                <a:latin typeface="Arial Black"/>
                <a:ea typeface="Arial Black"/>
                <a:cs typeface="Arial Black"/>
              </a:rPr>
              <a:t>One recovery workflow in six hours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865E1DA1-E52A-4DD9-8A92-D83EE5758BE1}"/>
              </a:ext>
            </a:extLst>
          </p:cNvPr>
          <p:cNvSpPr>
            <a:spLocks noGrp="1"/>
          </p:cNvSpPr>
          <p:nvPr/>
        </p:nvSpPr>
        <p:spPr>
          <a:xfrm>
            <a:off x="609600" y="6334125"/>
            <a:ext cx="10972800" cy="0"/>
          </a:xfrm>
          <a:prstGeom prst="line">
            <a:avLst/>
          </a:prstGeom>
          <a:noFill/>
          <a:ln w="11430">
            <a:solidFill>
              <a:srgbClr val="D9C7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AgentOps 2026  /  Idea proposal">
            <a:extLst>
              <a:ext uri="{FF2B5EF4-FFF2-40B4-BE49-F238E27FC236}">
                <a16:creationId xmlns:a16="http://schemas.microsoft.com/office/drawing/2014/main" id="{338B681C-0329-4331-9C12-B333FC58035B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125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AgentOps 2026  /  Idea proposal</a:t>
            </a:r>
          </a:p>
        </p:txBody>
      </p:sp>
      <p:sp>
        <p:nvSpPr>
          <p:cNvPr id="5" name="07">
            <a:extLst>
              <a:ext uri="{FF2B5EF4-FFF2-40B4-BE49-F238E27FC236}">
                <a16:creationId xmlns:a16="http://schemas.microsoft.com/office/drawing/2014/main" id="{DDBAF93D-EA1E-417A-B973-66B9B206BB7E}"/>
              </a:ext>
            </a:extLst>
          </p:cNvPr>
          <p:cNvSpPr>
            <a:spLocks noGrp="1"/>
          </p:cNvSpPr>
          <p:nvPr/>
        </p:nvSpPr>
        <p:spPr>
          <a:xfrm>
            <a:off x="10801350" y="6438900"/>
            <a:ext cx="781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1275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MINIMUM WORKING VERSION">
            <a:extLst>
              <a:ext uri="{FF2B5EF4-FFF2-40B4-BE49-F238E27FC236}">
                <a16:creationId xmlns:a16="http://schemas.microsoft.com/office/drawing/2014/main" id="{5F97361A-55CA-4791-B0BE-646F99C22EAC}"/>
              </a:ext>
            </a:extLst>
          </p:cNvPr>
          <p:cNvSpPr>
            <a:spLocks noGrp="1"/>
          </p:cNvSpPr>
          <p:nvPr/>
        </p:nvSpPr>
        <p:spPr>
          <a:xfrm>
            <a:off x="609600" y="2057400"/>
            <a:ext cx="10687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350" b="1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MINIMUM WORKING VERSION</a:t>
            </a:r>
          </a:p>
        </p:txBody>
      </p:sp>
      <p:sp>
        <p:nvSpPr>
          <p:cNvPr id="7" name="[The smallest end-to-end workflow your team intends to demonstrate]">
            <a:extLst>
              <a:ext uri="{FF2B5EF4-FFF2-40B4-BE49-F238E27FC236}">
                <a16:creationId xmlns:a16="http://schemas.microsoft.com/office/drawing/2014/main" id="{5E10EE0F-ECDE-46A5-AEE6-BA082A5AC789}"/>
              </a:ext>
            </a:extLst>
          </p:cNvPr>
          <p:cNvSpPr>
            <a:spLocks noGrp="1"/>
          </p:cNvSpPr>
          <p:nvPr/>
        </p:nvSpPr>
        <p:spPr>
          <a:xfrm>
            <a:off x="609600" y="2438400"/>
            <a:ext cx="1068705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950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1 donor, 2 recipients, 3 volunteers. One donation, one replacement pair.</a:t>
            </a:r>
          </a:p>
          <a:p>
            <a:pPr algn="l">
              <a:buNone/>
              <a:defRPr sz="1950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Planned event build: local sandbox with simulated replies.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2C306DF6-C863-47FA-959B-943D01C4D354}"/>
              </a:ext>
            </a:extLst>
          </p:cNvPr>
          <p:cNvSpPr>
            <a:spLocks noGrp="1"/>
          </p:cNvSpPr>
          <p:nvPr/>
        </p:nvSpPr>
        <p:spPr>
          <a:xfrm>
            <a:off x="609600" y="3419475"/>
            <a:ext cx="10972800" cy="0"/>
          </a:xfrm>
          <a:prstGeom prst="line">
            <a:avLst/>
          </a:prstGeom>
          <a:noFill/>
          <a:ln w="11430">
            <a:solidFill>
              <a:srgbClr val="D9C7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BUILD">
            <a:extLst>
              <a:ext uri="{FF2B5EF4-FFF2-40B4-BE49-F238E27FC236}">
                <a16:creationId xmlns:a16="http://schemas.microsoft.com/office/drawing/2014/main" id="{D09BE4F0-9653-4D5F-A102-4CE293EC062A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350" b="1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10" name="[Main component and team owner]">
            <a:extLst>
              <a:ext uri="{FF2B5EF4-FFF2-40B4-BE49-F238E27FC236}">
                <a16:creationId xmlns:a16="http://schemas.microsoft.com/office/drawing/2014/main" id="{EF03BA51-3E48-46C9-92A1-879D5F401369}"/>
              </a:ext>
            </a:extLst>
          </p:cNvPr>
          <p:cNvSpPr>
            <a:spLocks noGrp="1"/>
          </p:cNvSpPr>
          <p:nvPr/>
        </p:nvSpPr>
        <p:spPr>
          <a:xfrm>
            <a:off x="609600" y="4143375"/>
            <a:ext cx="3305175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800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155 minutes</a:t>
            </a:r>
          </a:p>
          <a:p>
            <a:pPr algn="l">
              <a:buNone/>
              <a:defRPr sz="1800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Fixtures, validation tools</a:t>
            </a:r>
          </a:p>
          <a:p>
            <a:pPr algn="l">
              <a:buNone/>
              <a:defRPr sz="1800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and the recovery loop.</a:t>
            </a:r>
          </a:p>
        </p:txBody>
      </p:sp>
      <p:sp>
        <p:nvSpPr>
          <p:cNvPr id="11" name="INTEGRATE">
            <a:extLst>
              <a:ext uri="{FF2B5EF4-FFF2-40B4-BE49-F238E27FC236}">
                <a16:creationId xmlns:a16="http://schemas.microsoft.com/office/drawing/2014/main" id="{25BD5669-5C1E-4D17-BC26-E57C4D4DEFC9}"/>
              </a:ext>
            </a:extLst>
          </p:cNvPr>
          <p:cNvSpPr>
            <a:spLocks noGrp="1"/>
          </p:cNvSpPr>
          <p:nvPr/>
        </p:nvSpPr>
        <p:spPr>
          <a:xfrm>
            <a:off x="4391025" y="3714750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350" b="1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INTEGRATE</a:t>
            </a:r>
          </a:p>
        </p:txBody>
      </p:sp>
      <p:sp>
        <p:nvSpPr>
          <p:cNvPr id="12" name="[Connections and fallback approach]">
            <a:extLst>
              <a:ext uri="{FF2B5EF4-FFF2-40B4-BE49-F238E27FC236}">
                <a16:creationId xmlns:a16="http://schemas.microsoft.com/office/drawing/2014/main" id="{EF19214D-E621-4E99-A734-64F5A00372A9}"/>
              </a:ext>
            </a:extLst>
          </p:cNvPr>
          <p:cNvSpPr>
            <a:spLocks noGrp="1"/>
          </p:cNvSpPr>
          <p:nvPr/>
        </p:nvSpPr>
        <p:spPr>
          <a:xfrm>
            <a:off x="4391025" y="4143375"/>
            <a:ext cx="3305175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800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85 minutes</a:t>
            </a:r>
          </a:p>
          <a:p>
            <a:pPr algn="l">
              <a:buNone/>
              <a:defRPr sz="1800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Approval UI, reservations</a:t>
            </a:r>
          </a:p>
          <a:p>
            <a:pPr algn="l">
              <a:buNone/>
              <a:defRPr sz="1800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and versioned booking.</a:t>
            </a:r>
          </a:p>
        </p:txBody>
      </p:sp>
      <p:sp>
        <p:nvSpPr>
          <p:cNvPr id="13" name="VALIDATE">
            <a:extLst>
              <a:ext uri="{FF2B5EF4-FFF2-40B4-BE49-F238E27FC236}">
                <a16:creationId xmlns:a16="http://schemas.microsoft.com/office/drawing/2014/main" id="{9964F41E-EE22-476D-8347-0095FBD10278}"/>
              </a:ext>
            </a:extLst>
          </p:cNvPr>
          <p:cNvSpPr>
            <a:spLocks noGrp="1"/>
          </p:cNvSpPr>
          <p:nvPr/>
        </p:nvSpPr>
        <p:spPr>
          <a:xfrm>
            <a:off x="8172450" y="3714750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350" b="1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sp>
        <p:nvSpPr>
          <p:cNvPr id="14" name="[Demo scenario and success conditions]">
            <a:extLst>
              <a:ext uri="{FF2B5EF4-FFF2-40B4-BE49-F238E27FC236}">
                <a16:creationId xmlns:a16="http://schemas.microsoft.com/office/drawing/2014/main" id="{84E362DA-AC9C-4887-A57D-4120C29E786C}"/>
              </a:ext>
            </a:extLst>
          </p:cNvPr>
          <p:cNvSpPr>
            <a:spLocks noGrp="1"/>
          </p:cNvSpPr>
          <p:nvPr/>
        </p:nvSpPr>
        <p:spPr>
          <a:xfrm>
            <a:off x="8172450" y="4143375"/>
            <a:ext cx="3305175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800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90 minutes</a:t>
            </a:r>
          </a:p>
          <a:p>
            <a:pPr algn="l">
              <a:buNone/>
              <a:defRPr sz="1800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Failure tests and demo.</a:t>
            </a:r>
          </a:p>
          <a:p>
            <a:pPr algn="l">
              <a:buNone/>
              <a:defRPr sz="1800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30-minute break buffer.</a:t>
            </a:r>
          </a:p>
        </p:txBody>
      </p:sp>
      <p:sp>
        <p:nvSpPr>
          <p:cNvPr id="15" name="IF TIME ALLOWS">
            <a:extLst>
              <a:ext uri="{FF2B5EF4-FFF2-40B4-BE49-F238E27FC236}">
                <a16:creationId xmlns:a16="http://schemas.microsoft.com/office/drawing/2014/main" id="{3880275C-8445-41F2-9542-3C61389B1B88}"/>
              </a:ext>
            </a:extLst>
          </p:cNvPr>
          <p:cNvSpPr>
            <a:spLocks noGrp="1"/>
          </p:cNvSpPr>
          <p:nvPr/>
        </p:nvSpPr>
        <p:spPr>
          <a:xfrm>
            <a:off x="609600" y="5495925"/>
            <a:ext cx="2152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350" b="1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IF TIME ALLOWS</a:t>
            </a:r>
          </a:p>
        </p:txBody>
      </p:sp>
      <p:sp>
        <p:nvSpPr>
          <p:cNvPr id="16" name="[One stretch feature — separate from the core scope]">
            <a:extLst>
              <a:ext uri="{FF2B5EF4-FFF2-40B4-BE49-F238E27FC236}">
                <a16:creationId xmlns:a16="http://schemas.microsoft.com/office/drawing/2014/main" id="{4D155021-11A7-4D2F-A5FA-DE71FDC369BA}"/>
              </a:ext>
            </a:extLst>
          </p:cNvPr>
          <p:cNvSpPr>
            <a:spLocks noGrp="1"/>
          </p:cNvSpPr>
          <p:nvPr/>
        </p:nvSpPr>
        <p:spPr>
          <a:xfrm>
            <a:off x="3114675" y="5438775"/>
            <a:ext cx="82677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950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Split one donation across two recipients after the core tests pass.</a:t>
            </a:r>
          </a:p>
        </p:txBody>
      </p:sp>
    </p:spTree>
    <p:extLst>
      <p:ext uri="{BB962C8B-B14F-4D97-AF65-F5344CB8AC3E}">
        <p14:creationId xmlns:p14="http://schemas.microsoft.com/office/powerpoint/2010/main" val="6912087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07 / EXPECTED OUTCOMES">
            <a:extLst>
              <a:ext uri="{FF2B5EF4-FFF2-40B4-BE49-F238E27FC236}">
                <a16:creationId xmlns:a16="http://schemas.microsoft.com/office/drawing/2014/main" id="{D58E0B3F-472D-4867-9691-AE6E4612001D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350" b="1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07 / EXPECTED OUTCOMES</a:t>
            </a:r>
          </a:p>
        </p:txBody>
      </p:sp>
      <p:sp>
        <p:nvSpPr>
          <p:cNvPr id="2" name="Impact, evaluation &amp; risks">
            <a:extLst>
              <a:ext uri="{FF2B5EF4-FFF2-40B4-BE49-F238E27FC236}">
                <a16:creationId xmlns:a16="http://schemas.microsoft.com/office/drawing/2014/main" id="{A7E2B26B-251F-434D-BEFB-7231C2497D86}"/>
              </a:ext>
            </a:extLst>
          </p:cNvPr>
          <p:cNvSpPr>
            <a:spLocks noGrp="1"/>
          </p:cNvSpPr>
          <p:nvPr/>
        </p:nvSpPr>
        <p:spPr>
          <a:xfrm>
            <a:off x="609600" y="866775"/>
            <a:ext cx="10972800" cy="752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600" b="1" i="0">
                <a:solidFill>
                  <a:srgbClr val="352B26"/>
                </a:solidFill>
                <a:latin typeface="Arial Black"/>
                <a:ea typeface="Arial Black"/>
                <a:cs typeface="Arial Black"/>
              </a:defRPr>
            </a:defPPr>
          </a:lstStyle>
          <a:p>
            <a:pPr algn="l">
              <a:buNone/>
              <a:defRPr sz="3600" b="1" i="0">
                <a:solidFill>
                  <a:srgbClr val="352B26"/>
                </a:solidFill>
                <a:latin typeface="Arial Black"/>
                <a:ea typeface="Arial Black"/>
                <a:cs typeface="Arial Black"/>
              </a:defRPr>
            </a:pPr>
            <a:r>
              <a:rPr sz="3600" b="1" i="0">
                <a:solidFill>
                  <a:srgbClr val="352B26"/>
                </a:solidFill>
                <a:latin typeface="Arial Black"/>
                <a:ea typeface="Arial Black"/>
                <a:cs typeface="Arial Black"/>
              </a:rPr>
              <a:t>A useful result, even when recovery fails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140EDCB9-4C8C-4E82-A2C3-EBB5A73F0FE0}"/>
              </a:ext>
            </a:extLst>
          </p:cNvPr>
          <p:cNvSpPr>
            <a:spLocks noGrp="1"/>
          </p:cNvSpPr>
          <p:nvPr/>
        </p:nvSpPr>
        <p:spPr>
          <a:xfrm>
            <a:off x="609600" y="6334125"/>
            <a:ext cx="10972800" cy="0"/>
          </a:xfrm>
          <a:prstGeom prst="line">
            <a:avLst/>
          </a:prstGeom>
          <a:noFill/>
          <a:ln w="11430">
            <a:solidFill>
              <a:srgbClr val="D9C7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AgentOps 2026  /  Idea proposal">
            <a:extLst>
              <a:ext uri="{FF2B5EF4-FFF2-40B4-BE49-F238E27FC236}">
                <a16:creationId xmlns:a16="http://schemas.microsoft.com/office/drawing/2014/main" id="{9050360D-66F9-4E73-9026-115420536188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125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AgentOps 2026  /  Idea proposal</a:t>
            </a:r>
          </a:p>
        </p:txBody>
      </p:sp>
      <p:sp>
        <p:nvSpPr>
          <p:cNvPr id="5" name="08">
            <a:extLst>
              <a:ext uri="{FF2B5EF4-FFF2-40B4-BE49-F238E27FC236}">
                <a16:creationId xmlns:a16="http://schemas.microsoft.com/office/drawing/2014/main" id="{CAF2F2DE-678F-44CD-8BF2-47559ABA0AE1}"/>
              </a:ext>
            </a:extLst>
          </p:cNvPr>
          <p:cNvSpPr>
            <a:spLocks noGrp="1"/>
          </p:cNvSpPr>
          <p:nvPr/>
        </p:nvSpPr>
        <p:spPr>
          <a:xfrm>
            <a:off x="10801350" y="6438900"/>
            <a:ext cx="781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1275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EXPECTED BENEFIT">
            <a:extLst>
              <a:ext uri="{FF2B5EF4-FFF2-40B4-BE49-F238E27FC236}">
                <a16:creationId xmlns:a16="http://schemas.microsoft.com/office/drawing/2014/main" id="{DBF45CF9-F678-4641-9E5F-E7B1170DFDEB}"/>
              </a:ext>
            </a:extLst>
          </p:cNvPr>
          <p:cNvSpPr>
            <a:spLocks noGrp="1"/>
          </p:cNvSpPr>
          <p:nvPr/>
        </p:nvSpPr>
        <p:spPr>
          <a:xfrm>
            <a:off x="609600" y="1571333"/>
            <a:ext cx="485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350" b="1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EXPECTED BENEFIT</a:t>
            </a:r>
          </a:p>
        </p:txBody>
      </p:sp>
      <p:sp>
        <p:nvSpPr>
          <p:cNvPr id="7" name="[Who benefits and what improves]">
            <a:extLst>
              <a:ext uri="{FF2B5EF4-FFF2-40B4-BE49-F238E27FC236}">
                <a16:creationId xmlns:a16="http://schemas.microsoft.com/office/drawing/2014/main" id="{D6CFA98D-E724-4B24-B28B-01B718450F7F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4857750" cy="1476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875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Dispatchers get a checked replacement</a:t>
            </a:r>
          </a:p>
          <a:p>
            <a:pPr algn="l">
              <a:buNone/>
              <a:defRPr sz="1875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or clear reasons to intervene.</a:t>
            </a:r>
          </a:p>
          <a:p>
            <a:pPr>
              <a:buNone/>
              <a:defRPr sz="1875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796456"/>
                </a:solidFill>
                <a:latin typeface="Arial"/>
                <a:ea typeface="Arial"/>
                <a:cs typeface="Arial"/>
              </a:rPr>
              <a:t>The demo tests recovery after cancellation</a:t>
            </a:r>
            <a:endParaRPr sz="1875" b="0" i="0">
              <a:solidFill>
                <a:srgbClr val="796456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1875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796456"/>
                </a:solidFill>
                <a:latin typeface="Arial"/>
                <a:ea typeface="Arial"/>
                <a:cs typeface="Arial"/>
              </a:rPr>
              <a:t>and a capacity change before approval.</a:t>
            </a:r>
            <a:endParaRPr sz="1875" b="0" i="0">
              <a:solidFill>
                <a:srgbClr val="79645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SUCCESS MEASURE">
            <a:extLst>
              <a:ext uri="{FF2B5EF4-FFF2-40B4-BE49-F238E27FC236}">
                <a16:creationId xmlns:a16="http://schemas.microsoft.com/office/drawing/2014/main" id="{C32B72E4-28B8-4CE9-BE64-849926060CB7}"/>
              </a:ext>
            </a:extLst>
          </p:cNvPr>
          <p:cNvSpPr>
            <a:spLocks noGrp="1"/>
          </p:cNvSpPr>
          <p:nvPr/>
        </p:nvSpPr>
        <p:spPr>
          <a:xfrm>
            <a:off x="6524625" y="1562101"/>
            <a:ext cx="485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350" b="1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SUCCESS MEASURE</a:t>
            </a:r>
          </a:p>
        </p:txBody>
      </p:sp>
      <p:sp>
        <p:nvSpPr>
          <p:cNvPr id="9" name="[Metric + target + test method]">
            <a:extLst>
              <a:ext uri="{FF2B5EF4-FFF2-40B4-BE49-F238E27FC236}">
                <a16:creationId xmlns:a16="http://schemas.microsoft.com/office/drawing/2014/main" id="{A0DF8959-CF9A-4D6D-B41C-56240E788A75}"/>
              </a:ext>
            </a:extLst>
          </p:cNvPr>
          <p:cNvSpPr>
            <a:spLocks noGrp="1"/>
          </p:cNvSpPr>
          <p:nvPr/>
        </p:nvSpPr>
        <p:spPr>
          <a:xfrm>
            <a:off x="6524625" y="2000250"/>
            <a:ext cx="4857750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800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Valid proposal in &lt;30 s, excluding approval.*</a:t>
            </a:r>
          </a:p>
          <a:p>
            <a:pPr algn="l">
              <a:buNone/>
              <a:defRPr sz="1800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Reject all 5 invalid fixtures.</a:t>
            </a:r>
          </a:p>
          <a:p>
            <a:pPr algn="l">
              <a:buNone/>
              <a:defRPr sz="1800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0 duplicate bookings across 10 replays.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13D193D8-5FFF-41DE-9364-85D5F8E37E81}"/>
              </a:ext>
            </a:extLst>
          </p:cNvPr>
          <p:cNvSpPr>
            <a:spLocks noGrp="1"/>
          </p:cNvSpPr>
          <p:nvPr/>
        </p:nvSpPr>
        <p:spPr>
          <a:xfrm>
            <a:off x="609600" y="3702310"/>
            <a:ext cx="10972800" cy="0"/>
          </a:xfrm>
          <a:prstGeom prst="line">
            <a:avLst/>
          </a:prstGeom>
          <a:noFill/>
          <a:ln w="11430">
            <a:solidFill>
              <a:srgbClr val="D9C7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KEY RISK OR FAILURE CASE">
            <a:extLst>
              <a:ext uri="{FF2B5EF4-FFF2-40B4-BE49-F238E27FC236}">
                <a16:creationId xmlns:a16="http://schemas.microsoft.com/office/drawing/2014/main" id="{108B2325-2FAA-457C-AA75-EBD7A2A2F995}"/>
              </a:ext>
            </a:extLst>
          </p:cNvPr>
          <p:cNvSpPr>
            <a:spLocks noGrp="1"/>
          </p:cNvSpPr>
          <p:nvPr/>
        </p:nvSpPr>
        <p:spPr>
          <a:xfrm>
            <a:off x="609600" y="3943350"/>
            <a:ext cx="485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350" b="1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KEY RISK OR FAILURE CASE</a:t>
            </a:r>
          </a:p>
        </p:txBody>
      </p:sp>
      <p:sp>
        <p:nvSpPr>
          <p:cNvPr id="12" name="[What could go wrong, including incorrect actions or data exposure]">
            <a:extLst>
              <a:ext uri="{FF2B5EF4-FFF2-40B4-BE49-F238E27FC236}">
                <a16:creationId xmlns:a16="http://schemas.microsoft.com/office/drawing/2014/main" id="{B5B725C3-5C81-4822-BB0A-A46EB65123D2}"/>
              </a:ext>
            </a:extLst>
          </p:cNvPr>
          <p:cNvSpPr>
            <a:spLocks noGrp="1"/>
          </p:cNvSpPr>
          <p:nvPr/>
        </p:nvSpPr>
        <p:spPr>
          <a:xfrm>
            <a:off x="609600" y="4324350"/>
            <a:ext cx="485775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875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Insufficient capacity, late arrival,</a:t>
            </a:r>
          </a:p>
          <a:p>
            <a:pPr algn="l">
              <a:buNone/>
              <a:defRPr sz="1875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missing handling evidence, stale state</a:t>
            </a:r>
          </a:p>
          <a:p>
            <a:pPr algn="l">
              <a:buNone/>
              <a:defRPr sz="1875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and a rejected confirmation.</a:t>
            </a:r>
          </a:p>
        </p:txBody>
      </p:sp>
      <p:sp>
        <p:nvSpPr>
          <p:cNvPr id="13" name="SAFEGUARD &amp; FALLBACK">
            <a:extLst>
              <a:ext uri="{FF2B5EF4-FFF2-40B4-BE49-F238E27FC236}">
                <a16:creationId xmlns:a16="http://schemas.microsoft.com/office/drawing/2014/main" id="{56215914-113B-46DF-95CB-59553A8401CE}"/>
              </a:ext>
            </a:extLst>
          </p:cNvPr>
          <p:cNvSpPr>
            <a:spLocks noGrp="1"/>
          </p:cNvSpPr>
          <p:nvPr/>
        </p:nvSpPr>
        <p:spPr>
          <a:xfrm>
            <a:off x="6524625" y="3943350"/>
            <a:ext cx="485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350" b="1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SAFEGUARD &amp; FALLBACK</a:t>
            </a:r>
          </a:p>
        </p:txBody>
      </p:sp>
      <p:sp>
        <p:nvSpPr>
          <p:cNvPr id="14" name="[How you limit harm and let a person intervene or recover]">
            <a:extLst>
              <a:ext uri="{FF2B5EF4-FFF2-40B4-BE49-F238E27FC236}">
                <a16:creationId xmlns:a16="http://schemas.microsoft.com/office/drawing/2014/main" id="{E23644AE-3A02-4AA4-8EBD-FEFAEC592104}"/>
              </a:ext>
            </a:extLst>
          </p:cNvPr>
          <p:cNvSpPr>
            <a:spLocks noGrp="1"/>
          </p:cNvSpPr>
          <p:nvPr/>
        </p:nvSpPr>
        <p:spPr>
          <a:xfrm>
            <a:off x="6524625" y="4324350"/>
            <a:ext cx="485775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875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Show tool evidence and the failure reason.</a:t>
            </a:r>
          </a:p>
          <a:p>
            <a:pPr algn="l">
              <a:buNone/>
              <a:defRPr sz="1875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Verify approved version and both replies.</a:t>
            </a:r>
          </a:p>
          <a:p>
            <a:pPr algn="l">
              <a:buNone/>
              <a:defRPr sz="1875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If recovery fails, escalate with no booking.</a:t>
            </a:r>
          </a:p>
        </p:txBody>
      </p:sp>
      <p:sp>
        <p:nvSpPr>
          <p:cNvPr id="15" name="[Mark expected outcomes as targets; include measured results only if you have ev">
            <a:extLst>
              <a:ext uri="{FF2B5EF4-FFF2-40B4-BE49-F238E27FC236}">
                <a16:creationId xmlns:a16="http://schemas.microsoft.com/office/drawing/2014/main" id="{3F155E86-8484-4182-8C23-E600DE44C373}"/>
              </a:ext>
            </a:extLst>
          </p:cNvPr>
          <p:cNvSpPr>
            <a:spLocks noGrp="1"/>
          </p:cNvSpPr>
          <p:nvPr/>
        </p:nvSpPr>
        <p:spPr>
          <a:xfrm>
            <a:off x="609600" y="5543550"/>
            <a:ext cx="1085850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 i="1">
                <a:solidFill>
                  <a:srgbClr val="79645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1500" b="0" i="1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500" b="0" i="1">
                <a:solidFill>
                  <a:srgbClr val="796456"/>
                </a:solidFill>
                <a:latin typeface="Arial"/>
                <a:ea typeface="Arial"/>
                <a:cs typeface="Arial"/>
              </a:rPr>
              <a:t>*Planned sandbox targets, not measured results. Real-world time savings and food recovered require a pilot.</a:t>
            </a:r>
          </a:p>
        </p:txBody>
      </p:sp>
    </p:spTree>
    <p:extLst>
      <p:ext uri="{BB962C8B-B14F-4D97-AF65-F5344CB8AC3E}">
        <p14:creationId xmlns:p14="http://schemas.microsoft.com/office/powerpoint/2010/main" val="197460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08 / TEAM &amp; REFERENCES">
            <a:extLst>
              <a:ext uri="{FF2B5EF4-FFF2-40B4-BE49-F238E27FC236}">
                <a16:creationId xmlns:a16="http://schemas.microsoft.com/office/drawing/2014/main" id="{7EDAB744-5209-422D-B13F-B5E7962EFF12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350" b="1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08 / TEAM &amp; REFERENCES</a:t>
            </a:r>
          </a:p>
        </p:txBody>
      </p:sp>
      <p:sp>
        <p:nvSpPr>
          <p:cNvPr id="2" name="The team behind the idea">
            <a:extLst>
              <a:ext uri="{FF2B5EF4-FFF2-40B4-BE49-F238E27FC236}">
                <a16:creationId xmlns:a16="http://schemas.microsoft.com/office/drawing/2014/main" id="{B51B58C3-2D3B-4AB3-9D1E-F16D32279575}"/>
              </a:ext>
            </a:extLst>
          </p:cNvPr>
          <p:cNvSpPr>
            <a:spLocks noGrp="1"/>
          </p:cNvSpPr>
          <p:nvPr/>
        </p:nvSpPr>
        <p:spPr>
          <a:xfrm>
            <a:off x="609600" y="866775"/>
            <a:ext cx="10972800" cy="752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600" b="1" i="0">
                <a:solidFill>
                  <a:srgbClr val="352B26"/>
                </a:solidFill>
                <a:latin typeface="Arial Black"/>
                <a:ea typeface="Arial Black"/>
                <a:cs typeface="Arial Black"/>
              </a:defRPr>
            </a:defPPr>
          </a:lstStyle>
          <a:p>
            <a:pPr algn="l">
              <a:buNone/>
              <a:defRPr sz="3600" b="1" i="0">
                <a:solidFill>
                  <a:srgbClr val="352B26"/>
                </a:solidFill>
                <a:latin typeface="Arial Black"/>
                <a:ea typeface="Arial Black"/>
                <a:cs typeface="Arial Black"/>
              </a:defRPr>
            </a:pPr>
            <a:r>
              <a:rPr sz="3600" b="1" i="0">
                <a:solidFill>
                  <a:srgbClr val="352B26"/>
                </a:solidFill>
                <a:latin typeface="Arial Black"/>
                <a:ea typeface="Arial Black"/>
                <a:cs typeface="Arial Black"/>
              </a:rPr>
              <a:t>ORIGINAL_anomaly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8D7CD2FB-BF82-47F0-A1C0-119E2BD2E83C}"/>
              </a:ext>
            </a:extLst>
          </p:cNvPr>
          <p:cNvSpPr>
            <a:spLocks noGrp="1"/>
          </p:cNvSpPr>
          <p:nvPr/>
        </p:nvSpPr>
        <p:spPr>
          <a:xfrm>
            <a:off x="609600" y="6334125"/>
            <a:ext cx="10972800" cy="0"/>
          </a:xfrm>
          <a:prstGeom prst="line">
            <a:avLst/>
          </a:prstGeom>
          <a:noFill/>
          <a:ln w="11430">
            <a:solidFill>
              <a:srgbClr val="D9C7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AgentOps 2026  /  Idea proposal">
            <a:extLst>
              <a:ext uri="{FF2B5EF4-FFF2-40B4-BE49-F238E27FC236}">
                <a16:creationId xmlns:a16="http://schemas.microsoft.com/office/drawing/2014/main" id="{8B48DAC3-39C9-49E9-ABCF-81EE6E4812B2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125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AgentOps 2026  /  Idea proposal</a:t>
            </a:r>
          </a:p>
        </p:txBody>
      </p:sp>
      <p:sp>
        <p:nvSpPr>
          <p:cNvPr id="5" name="09">
            <a:extLst>
              <a:ext uri="{FF2B5EF4-FFF2-40B4-BE49-F238E27FC236}">
                <a16:creationId xmlns:a16="http://schemas.microsoft.com/office/drawing/2014/main" id="{1AE8DCA3-9E3C-4E7E-974D-1819DAB802D5}"/>
              </a:ext>
            </a:extLst>
          </p:cNvPr>
          <p:cNvSpPr>
            <a:spLocks noGrp="1"/>
          </p:cNvSpPr>
          <p:nvPr/>
        </p:nvSpPr>
        <p:spPr>
          <a:xfrm>
            <a:off x="10801350" y="6438900"/>
            <a:ext cx="781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1275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TEAM LEADER">
            <a:extLst>
              <a:ext uri="{FF2B5EF4-FFF2-40B4-BE49-F238E27FC236}">
                <a16:creationId xmlns:a16="http://schemas.microsoft.com/office/drawing/2014/main" id="{3D7C99A5-2A08-4688-8CA2-D53B17922E83}"/>
              </a:ext>
            </a:extLst>
          </p:cNvPr>
          <p:cNvSpPr>
            <a:spLocks noGrp="1"/>
          </p:cNvSpPr>
          <p:nvPr/>
        </p:nvSpPr>
        <p:spPr>
          <a:xfrm>
            <a:off x="609600" y="2105025"/>
            <a:ext cx="485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350" b="1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TEAM LEADER</a:t>
            </a:r>
          </a:p>
        </p:txBody>
      </p:sp>
      <p:sp>
        <p:nvSpPr>
          <p:cNvPr id="7" name="[Name · Department · Year] [Relevant skill / build responsibility]">
            <a:extLst>
              <a:ext uri="{FF2B5EF4-FFF2-40B4-BE49-F238E27FC236}">
                <a16:creationId xmlns:a16="http://schemas.microsoft.com/office/drawing/2014/main" id="{3B434BBF-3B22-4B6D-80BB-6E34D2E0CE14}"/>
              </a:ext>
            </a:extLst>
          </p:cNvPr>
          <p:cNvSpPr>
            <a:spLocks noGrp="1"/>
          </p:cNvSpPr>
          <p:nvPr/>
        </p:nvSpPr>
        <p:spPr>
          <a:xfrm>
            <a:off x="609600" y="2486025"/>
            <a:ext cx="48577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875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Shubham Parmar</a:t>
            </a:r>
          </a:p>
          <a:p>
            <a:pPr algn="l">
              <a:buNone/>
              <a:defRPr sz="1875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B.Tech CSE, 1st Year</a:t>
            </a:r>
          </a:p>
          <a:p>
            <a:pPr algn="l">
              <a:buNone/>
              <a:defRPr sz="1875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Agent logic, tools, UI and validation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96CD3E67-A6D0-4443-BB90-EAFE2F2407A6}"/>
              </a:ext>
            </a:extLst>
          </p:cNvPr>
          <p:cNvSpPr>
            <a:spLocks noGrp="1"/>
          </p:cNvSpPr>
          <p:nvPr/>
        </p:nvSpPr>
        <p:spPr>
          <a:xfrm>
            <a:off x="609600" y="3981450"/>
            <a:ext cx="10972800" cy="0"/>
          </a:xfrm>
          <a:prstGeom prst="line">
            <a:avLst/>
          </a:prstGeom>
          <a:noFill/>
          <a:ln w="11430">
            <a:solidFill>
              <a:srgbClr val="D9C7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FERENCES &amp; ACKNOWLEDGEMENTS">
            <a:extLst>
              <a:ext uri="{FF2B5EF4-FFF2-40B4-BE49-F238E27FC236}">
                <a16:creationId xmlns:a16="http://schemas.microsoft.com/office/drawing/2014/main" id="{1089E5BA-5CC1-49DF-B493-61C549CD8ECA}"/>
              </a:ext>
            </a:extLst>
          </p:cNvPr>
          <p:cNvSpPr>
            <a:spLocks noGrp="1"/>
          </p:cNvSpPr>
          <p:nvPr/>
        </p:nvSpPr>
        <p:spPr>
          <a:xfrm>
            <a:off x="609600" y="4276725"/>
            <a:ext cx="1038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350" b="1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REFERENCES &amp; ACKNOWLEDGEMENTS</a:t>
            </a:r>
          </a:p>
        </p:txBody>
      </p:sp>
      <p:sp>
        <p:nvSpPr>
          <p:cNvPr id="12" name="[Source title / URL — what it supports] [Data, tools, or assets you intend to us">
            <a:extLst>
              <a:ext uri="{FF2B5EF4-FFF2-40B4-BE49-F238E27FC236}">
                <a16:creationId xmlns:a16="http://schemas.microsoft.com/office/drawing/2014/main" id="{FD4F9C3E-ACFA-418B-96FF-906661428CF9}"/>
              </a:ext>
            </a:extLst>
          </p:cNvPr>
          <p:cNvSpPr>
            <a:spLocks noGrp="1"/>
          </p:cNvSpPr>
          <p:nvPr/>
        </p:nvSpPr>
        <p:spPr>
          <a:xfrm>
            <a:off x="609600" y="4714875"/>
            <a:ext cx="108585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650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UNEP Food Waste Index 2024: global food-waste context</a:t>
            </a:r>
          </a:p>
          <a:p>
            <a:pPr algn="l">
              <a:buNone/>
              <a:defRPr sz="1650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Food Rescue Hero, 2023 technology update: dispatch and missed rescues</a:t>
            </a:r>
          </a:p>
          <a:p>
            <a:pPr algn="l">
              <a:buNone/>
              <a:defRPr sz="1650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Planned stack: Streamlit, Pydantic and SQLite</a:t>
            </a:r>
          </a:p>
          <a:p>
            <a:pPr algn="l">
              <a:buNone/>
              <a:defRPr sz="1650" b="0" i="0">
                <a:solidFill>
                  <a:srgbClr val="796456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796456"/>
                </a:solidFill>
                <a:latin typeface="Arial"/>
                <a:ea typeface="Arial"/>
                <a:cs typeface="Arial"/>
              </a:rPr>
              <a:t>Source URLs and the scope of each claim appear in slide notes.</a:t>
            </a:r>
          </a:p>
        </p:txBody>
      </p:sp>
    </p:spTree>
    <p:extLst>
      <p:ext uri="{BB962C8B-B14F-4D97-AF65-F5344CB8AC3E}">
        <p14:creationId xmlns:p14="http://schemas.microsoft.com/office/powerpoint/2010/main" val="101766687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AgentOps warm editorial">
      <a:dk1>
        <a:srgbClr val="352B26"/>
      </a:dk1>
      <a:lt1>
        <a:srgbClr val="FFFFFF"/>
      </a:lt1>
      <a:dk2>
        <a:srgbClr val="493A31"/>
      </a:dk2>
      <a:lt2>
        <a:srgbClr val="F8F2E9"/>
      </a:lt2>
      <a:accent1>
        <a:srgbClr val="493A31"/>
      </a:accent1>
      <a:accent2>
        <a:srgbClr val="D7B873"/>
      </a:accent2>
      <a:accent3>
        <a:srgbClr val="E9CDBD"/>
      </a:accent3>
      <a:accent4>
        <a:srgbClr val="895D46"/>
      </a:accent4>
      <a:accent5>
        <a:srgbClr val="9B8170"/>
      </a:accent5>
      <a:accent6>
        <a:srgbClr val="A3AA90"/>
      </a:accent6>
      <a:hlink>
        <a:srgbClr val="86513B"/>
      </a:hlink>
      <a:folHlink>
        <a:srgbClr val="694B67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AgentOps warm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AgentOps warm editorial">
      <a:dk1>
        <a:srgbClr val="352B26"/>
      </a:dk1>
      <a:lt1>
        <a:srgbClr val="FFFFFF"/>
      </a:lt1>
      <a:dk2>
        <a:srgbClr val="493A31"/>
      </a:dk2>
      <a:lt2>
        <a:srgbClr val="F8F2E9"/>
      </a:lt2>
      <a:accent1>
        <a:srgbClr val="493A31"/>
      </a:accent1>
      <a:accent2>
        <a:srgbClr val="D7B873"/>
      </a:accent2>
      <a:accent3>
        <a:srgbClr val="E9CDBD"/>
      </a:accent3>
      <a:accent4>
        <a:srgbClr val="895D46"/>
      </a:accent4>
      <a:accent5>
        <a:srgbClr val="9B8170"/>
      </a:accent5>
      <a:accent6>
        <a:srgbClr val="A3AA90"/>
      </a:accent6>
      <a:hlink>
        <a:srgbClr val="86513B"/>
      </a:hlink>
      <a:folHlink>
        <a:srgbClr val="694B67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AgentOps warm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978</Words>
  <Application>Microsoft Office PowerPoint</Application>
  <DocSecurity>0</DocSecurity>
  <PresentationFormat>Widescreen</PresentationFormat>
  <Paragraphs>175</Paragraphs>
  <Slides>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Shashi Parmar</cp:lastModifiedBy>
  <cp:revision>2</cp:revision>
  <dcterms:created xsi:type="dcterms:W3CDTF">2026-10-15T08:01:22Z</dcterms:created>
  <dcterms:modified xsi:type="dcterms:W3CDTF">2026-10-22T02:38:06Z</dcterms:modified>
</cp:coreProperties>
</file>